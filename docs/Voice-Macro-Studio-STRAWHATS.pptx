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eb941674a4e54b87" /><Relationship Type="http://schemas.openxmlformats.org/officeDocument/2006/relationships/extended-properties" Target="/docProps/app.xml" Id="R5c737261e55749e2" /><Relationship Type="http://schemas.openxmlformats.org/officeDocument/2006/relationships/officeDocument" Target="/ppt/presentation.xml" Id="Ra8e03f334d5e46e7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c85672e2f00947a0"/>
  </p:sldMasterIdLst>
  <p:notesMasterIdLst>
    <p:notesMasterId xmlns:r="http://schemas.openxmlformats.org/officeDocument/2006/relationships" r:id="R9fdc95d25dd144d9"/>
  </p:notesMasterIdLst>
  <p:sldIdLst>
    <p:sldId xmlns:r="http://schemas.openxmlformats.org/officeDocument/2006/relationships" id="256" r:id="R1af07b1703f3433c"/>
    <p:sldId xmlns:r="http://schemas.openxmlformats.org/officeDocument/2006/relationships" id="257" r:id="R4dad047bac0a48a7"/>
    <p:sldId xmlns:r="http://schemas.openxmlformats.org/officeDocument/2006/relationships" id="258" r:id="R1b1cab1f43654912"/>
    <p:sldId xmlns:r="http://schemas.openxmlformats.org/officeDocument/2006/relationships" id="259" r:id="R9996d124301b4418"/>
    <p:sldId xmlns:r="http://schemas.openxmlformats.org/officeDocument/2006/relationships" id="260" r:id="R6c843a9077a142d0"/>
    <p:sldId xmlns:r="http://schemas.openxmlformats.org/officeDocument/2006/relationships" id="261" r:id="Rb0da12c33d004e5b"/>
    <p:sldId xmlns:r="http://schemas.openxmlformats.org/officeDocument/2006/relationships" id="262" r:id="Rb1b97e17a6344d04"/>
    <p:sldId xmlns:r="http://schemas.openxmlformats.org/officeDocument/2006/relationships" id="263" r:id="R4bc899d81a2d4b8f"/>
    <p:sldId xmlns:r="http://schemas.openxmlformats.org/officeDocument/2006/relationships" id="264" r:id="Rb52592412ad64d70"/>
    <p:sldId xmlns:r="http://schemas.openxmlformats.org/officeDocument/2006/relationships" id="265" r:id="R49f163b3065b43e8"/>
    <p:sldId xmlns:r="http://schemas.openxmlformats.org/officeDocument/2006/relationships" id="266" r:id="R7236ee21050c4695"/>
    <p:sldId xmlns:r="http://schemas.openxmlformats.org/officeDocument/2006/relationships" id="267" r:id="R6f2e0c124ac14873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3ec77253e2034af9" /><Relationship Type="http://schemas.openxmlformats.org/officeDocument/2006/relationships/slideMaster" Target="/ppt/slideMasters/slideMaster1.xml" Id="Rc85672e2f00947a0" /><Relationship Type="http://schemas.openxmlformats.org/officeDocument/2006/relationships/notesMaster" Target="/ppt/notesMasters/notesMaster1.xml" Id="R9fdc95d25dd144d9" /><Relationship Type="http://schemas.openxmlformats.org/officeDocument/2006/relationships/presProps" Target="/ppt/presProps.xml" Id="Rb38af935c7824beb" /><Relationship Type="http://schemas.openxmlformats.org/officeDocument/2006/relationships/tableStyles" Target="/ppt/tableStyles.xml" Id="R85c42960e8e34153" /><Relationship Type="http://schemas.openxmlformats.org/officeDocument/2006/relationships/slide" Target="/ppt/slides/slide1.xml" Id="R1af07b1703f3433c" /><Relationship Type="http://schemas.openxmlformats.org/officeDocument/2006/relationships/slide" Target="/ppt/slides/slide2.xml" Id="R4dad047bac0a48a7" /><Relationship Type="http://schemas.openxmlformats.org/officeDocument/2006/relationships/slide" Target="/ppt/slides/slide3.xml" Id="R1b1cab1f43654912" /><Relationship Type="http://schemas.openxmlformats.org/officeDocument/2006/relationships/slide" Target="/ppt/slides/slide4.xml" Id="R9996d124301b4418" /><Relationship Type="http://schemas.openxmlformats.org/officeDocument/2006/relationships/slide" Target="/ppt/slides/slide5.xml" Id="R6c843a9077a142d0" /><Relationship Type="http://schemas.openxmlformats.org/officeDocument/2006/relationships/slide" Target="/ppt/slides/slide6.xml" Id="Rb0da12c33d004e5b" /><Relationship Type="http://schemas.openxmlformats.org/officeDocument/2006/relationships/slide" Target="/ppt/slides/slide7.xml" Id="Rb1b97e17a6344d04" /><Relationship Type="http://schemas.openxmlformats.org/officeDocument/2006/relationships/slide" Target="/ppt/slides/slide8.xml" Id="R4bc899d81a2d4b8f" /><Relationship Type="http://schemas.openxmlformats.org/officeDocument/2006/relationships/slide" Target="/ppt/slides/slide9.xml" Id="Rb52592412ad64d70" /><Relationship Type="http://schemas.openxmlformats.org/officeDocument/2006/relationships/slide" Target="/ppt/slides/slide10.xml" Id="R49f163b3065b43e8" /><Relationship Type="http://schemas.openxmlformats.org/officeDocument/2006/relationships/slide" Target="/ppt/slides/slide11.xml" Id="R7236ee21050c4695" /><Relationship Type="http://schemas.openxmlformats.org/officeDocument/2006/relationships/slide" Target="/ppt/slides/slide12.xml" Id="R6f2e0c124ac14873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e44a5bfdbeba4c93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bcc220de7ed940bc" /><Relationship Type="http://schemas.openxmlformats.org/officeDocument/2006/relationships/notesMaster" Target="/ppt/notesMasters/notesMaster1.xml" Id="R1e4ea0fee7a24926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6d8927bf71fe4b6d" /><Relationship Type="http://schemas.openxmlformats.org/officeDocument/2006/relationships/notesMaster" Target="/ppt/notesMasters/notesMaster1.xml" Id="R2c6eb158864846b5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81c55b6622434f32" /><Relationship Type="http://schemas.openxmlformats.org/officeDocument/2006/relationships/notesMaster" Target="/ppt/notesMasters/notesMaster1.xml" Id="R578ea3178c654821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f44dcc6df64547d5" /><Relationship Type="http://schemas.openxmlformats.org/officeDocument/2006/relationships/notesMaster" Target="/ppt/notesMasters/notesMaster1.xml" Id="Rbc5ea42920f0414a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7fd35e848df54639" /><Relationship Type="http://schemas.openxmlformats.org/officeDocument/2006/relationships/notesMaster" Target="/ppt/notesMasters/notesMaster1.xml" Id="R3d61af5e16a1479c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65ca5f96f2ca4d5c" /><Relationship Type="http://schemas.openxmlformats.org/officeDocument/2006/relationships/notesMaster" Target="/ppt/notesMasters/notesMaster1.xml" Id="R6adf741cf0eb4172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96f12586fdfa4509" /><Relationship Type="http://schemas.openxmlformats.org/officeDocument/2006/relationships/notesMaster" Target="/ppt/notesMasters/notesMaster1.xml" Id="R3e7a3454ecb54d34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eabc2933aab74744" /><Relationship Type="http://schemas.openxmlformats.org/officeDocument/2006/relationships/notesMaster" Target="/ppt/notesMasters/notesMaster1.xml" Id="R0f9935655de24538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f13381efb3d94fbb" /><Relationship Type="http://schemas.openxmlformats.org/officeDocument/2006/relationships/notesMaster" Target="/ppt/notesMasters/notesMaster1.xml" Id="R1b48fb49775c49dd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7ae5657ab96e4beb" /><Relationship Type="http://schemas.openxmlformats.org/officeDocument/2006/relationships/notesMaster" Target="/ppt/notesMasters/notesMaster1.xml" Id="R77be10ad8bc54100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46c4a523041146e2" /><Relationship Type="http://schemas.openxmlformats.org/officeDocument/2006/relationships/notesMaster" Target="/ppt/notesMasters/notesMaster1.xml" Id="R0d416ed568224464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e49f26d9bbab4f3e" /><Relationship Type="http://schemas.openxmlformats.org/officeDocument/2006/relationships/notesMaster" Target="/ppt/notesMasters/notesMaster1.xml" Id="R554ad42992584cd1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Open with the outcome: Voice Macro Studio learns a demonstrated action and replays it only when the current screen is safe and the target is confidently matched.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Frame the challenge around trust. The system must identify the intended control, block sensitive states, and verify an observed result rather than assuming a dispatched click succeeded.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core interaction is teach once, speak later, and verify every action. The overlay and text-to-speech communicate the result without claiming success prematurely.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Walk left to right on the top row, then back across the bottom. Room supplies the saved flow; every dispatch gets a fresh safety check. Success requires a changed structural fingerprint.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Emphasize that the runtime does not depend on a paid generative AI service. Android platform services handle speech and TTS; intent matching and quantities are local code.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app never enters payment or credential data. On payment it says 'Your turn' and blocks. Manual stop persists until the user returns to a safe screen and taps Recheck.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Live tests passed for English quantity three and Hinglish 'do' for quantity two. Supported range is one to five. Requests such as six are rejected.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Keep the evidence bounded. Thirty JVM tests passed. Live tests cover the listed cases on Android 16 with Zomato. This is not a general reliability claim.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sequence fits the submission limit. Pause after each command for the persistent yellow status. Do not proceed beyond the cart/payment handoff.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State the boundary clearly: Zomato is validated. Swiggy exposed an empty accessibility tree on the tested device, so the app blocks safely instead of bypassing the platform.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GitHub tag already exists. The README now links the deck and dedicated AI disclosure. The APK checksum lets judges verify the evaluation artifact.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Close by inviting questions about the safety pipeline, selector confidence, quantity handling, or the live demo evidence.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563e81c63ad49b5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c503614ed6d24ebb" /><Relationship Type="http://schemas.openxmlformats.org/officeDocument/2006/relationships/slideLayout" Target="/ppt/slideLayouts/slideLayout1.xml" Id="R0c5000311ba2428c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0c5000311ba2428c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76caefc711e4fbc" /><Relationship Type="http://schemas.openxmlformats.org/officeDocument/2006/relationships/image" Target="/ppt/media/image.png" Id="Ra69761f8c8b14e51" /><Relationship Type="http://schemas.openxmlformats.org/officeDocument/2006/relationships/notesSlide" Target="/ppt/notesSlides/notesSlide1.xml" Id="Rc53fbcb3838d4473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e27bb829f574515" /><Relationship Type="http://schemas.openxmlformats.org/officeDocument/2006/relationships/notesSlide" Target="/ppt/notesSlides/notesSlide2.xml" Id="Rdaf62d9ef84348a9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097e7cb4b204445" /><Relationship Type="http://schemas.openxmlformats.org/officeDocument/2006/relationships/notesSlide" Target="/ppt/notesSlides/notesSlide3.xml" Id="Rc732d96890ef4c85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f4bddd9f17f4f24" /><Relationship Type="http://schemas.openxmlformats.org/officeDocument/2006/relationships/notesSlide" Target="/ppt/notesSlides/notesSlide4.xml" Id="R455db5292f9543df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19a83ec1e93468b" /><Relationship Type="http://schemas.openxmlformats.org/officeDocument/2006/relationships/notesSlide" Target="/ppt/notesSlides/notesSlide5.xml" Id="Ra9fc41e1995148e6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173c707bdd640fc" /><Relationship Type="http://schemas.openxmlformats.org/officeDocument/2006/relationships/image" Target="/ppt/media/image2.png" Id="R717d47f340954237" /><Relationship Type="http://schemas.openxmlformats.org/officeDocument/2006/relationships/image" Target="/ppt/media/image3.png" Id="R6265d8e23b7d4564" /><Relationship Type="http://schemas.openxmlformats.org/officeDocument/2006/relationships/notesSlide" Target="/ppt/notesSlides/notesSlide6.xml" Id="Rb4319ca710a54b0f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a78541f94c94e37" /><Relationship Type="http://schemas.openxmlformats.org/officeDocument/2006/relationships/image" Target="/ppt/media/image4.png" Id="R5bcde0071c514c1b" /><Relationship Type="http://schemas.openxmlformats.org/officeDocument/2006/relationships/notesSlide" Target="/ppt/notesSlides/notesSlide7.xml" Id="Rd6d994fae9544982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b8254d7cee84ce4" /><Relationship Type="http://schemas.openxmlformats.org/officeDocument/2006/relationships/image" Target="/ppt/media/image5.png" Id="Rbd54e596f93b4faa" /><Relationship Type="http://schemas.openxmlformats.org/officeDocument/2006/relationships/notesSlide" Target="/ppt/notesSlides/notesSlide8.xml" Id="Rc4800fe4d44a4fb0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8a8961458be4265" /><Relationship Type="http://schemas.openxmlformats.org/officeDocument/2006/relationships/notesSlide" Target="/ppt/notesSlides/notesSlide9.xml" Id="Rb7755667a32a4c9d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214f88ce8f24456" /><Relationship Type="http://schemas.openxmlformats.org/officeDocument/2006/relationships/notesSlide" Target="/ppt/notesSlides/notesSlide10.xml" Id="R93aa9b6922f64425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28d7f50a5444873" /><Relationship Type="http://schemas.openxmlformats.org/officeDocument/2006/relationships/notesSlide" Target="/ppt/notesSlides/notesSlide11.xml" Id="R8e8a1c3077d84b95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deadfb224674537" /><Relationship Type="http://schemas.openxmlformats.org/officeDocument/2006/relationships/hyperlink" Target="https://github.com/ANKIEMUNKIE/voice_macro_Studio" TargetMode="External" Id="R1e7274b4a11e4677" /><Relationship Type="http://schemas.openxmlformats.org/officeDocument/2006/relationships/hyperlink" Target="https://youtu.be/HedNCph6ZhA" TargetMode="External" Id="Ra2d4550c56a7444a" /><Relationship Type="http://schemas.openxmlformats.org/officeDocument/2006/relationships/notesSlide" Target="/ppt/notesSlides/notesSlide12.xml" Id="Rfce2187ab34d4836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7142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CE1C3F7-D49C-4233-B8AE-E7C648A925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960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94C63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F2AA4B1-AFFA-49FB-83C8-3056B46431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476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AFC3D4"/>
                </a:solidFill>
                <a:latin typeface="Arial"/>
                <a:ea typeface="Arial"/>
                <a:cs typeface="Arial"/>
              </a:defRPr>
            </a:pPr>
            <a:r>
              <a:rPr sz="750" b="0">
                <a:solidFill>
                  <a:srgbClr val="AFC3D4"/>
                </a:solidFill>
                <a:latin typeface="Arial"/>
                <a:ea typeface="Arial"/>
                <a:cs typeface="Arial"/>
              </a:rPr>
              <a:t>STRAWHATS  •  VOICE MACRO STUDIO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ED02FE5-DC24-4CB6-92F0-D4F492CA5C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534150"/>
            <a:ext cx="6286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750" b="1">
                <a:solidFill>
                  <a:srgbClr val="F4B942"/>
                </a:solidFill>
                <a:latin typeface="Arial"/>
                <a:ea typeface="Arial"/>
                <a:cs typeface="Arial"/>
              </a:defRPr>
            </a:pPr>
            <a:r>
              <a:rPr sz="750" b="1">
                <a:solidFill>
                  <a:srgbClr val="F4B942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38F82D4-4B06-4AD1-ACEC-DD1683774C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B942"/>
          </a:solidFill>
          <a:ln xmlns:a="http://schemas.openxmlformats.org/drawingml/2006/main" w="0">
            <a:solidFill>
              <a:srgbClr val="F4B942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193709A-839E-4570-B09F-5906BD9205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57200"/>
            <a:ext cx="2647950" cy="3048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4B942"/>
          </a:solidFill>
          <a:ln xmlns:a="http://schemas.openxmlformats.org/drawingml/2006/main" w="9525">
            <a:solidFill>
              <a:srgbClr val="F4B942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80F61CE-B050-427F-AC84-EDED65D89B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76250"/>
            <a:ext cx="24574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071421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071421"/>
                </a:solidFill>
                <a:latin typeface="Arial"/>
                <a:ea typeface="Arial"/>
                <a:cs typeface="Arial"/>
              </a:rPr>
              <a:t>PRISM GENAI HACKATHON · 2026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3B0055B-8F07-4D7F-85D0-A9D2F5E87D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43000"/>
            <a:ext cx="5905500" cy="2381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4350" b="1">
                <a:solidFill>
                  <a:srgbClr val="F8FAFC"/>
                </a:solidFill>
                <a:latin typeface="Arial"/>
                <a:ea typeface="Arial"/>
                <a:cs typeface="Arial"/>
              </a:defRPr>
            </a:pPr>
            <a:r>
              <a:rPr sz="4350" b="1">
                <a:solidFill>
                  <a:srgbClr val="F8FAFC"/>
                </a:solidFill>
                <a:latin typeface="Arial"/>
                <a:ea typeface="Arial"/>
                <a:cs typeface="Arial"/>
              </a:rPr>
              <a:t>VOICE</a:t>
            </a:r>
          </a:p>
          <a:p xmlns:a="http://schemas.openxmlformats.org/drawingml/2006/main">
            <a:pPr algn="l">
              <a:defRPr sz="4350" b="1">
                <a:solidFill>
                  <a:srgbClr val="F8FAFC"/>
                </a:solidFill>
                <a:latin typeface="Arial"/>
                <a:ea typeface="Arial"/>
                <a:cs typeface="Arial"/>
              </a:defRPr>
            </a:pPr>
            <a:r>
              <a:rPr sz="4350" b="1">
                <a:solidFill>
                  <a:srgbClr val="F8FAFC"/>
                </a:solidFill>
                <a:latin typeface="Arial"/>
                <a:ea typeface="Arial"/>
                <a:cs typeface="Arial"/>
              </a:rPr>
              <a:t>MACRO</a:t>
            </a:r>
          </a:p>
          <a:p xmlns:a="http://schemas.openxmlformats.org/drawingml/2006/main">
            <a:pPr algn="l">
              <a:defRPr sz="4350" b="1">
                <a:solidFill>
                  <a:srgbClr val="F8FAFC"/>
                </a:solidFill>
                <a:latin typeface="Arial"/>
                <a:ea typeface="Arial"/>
                <a:cs typeface="Arial"/>
              </a:defRPr>
            </a:pPr>
            <a:r>
              <a:rPr sz="4350" b="1">
                <a:solidFill>
                  <a:srgbClr val="F8FAFC"/>
                </a:solidFill>
                <a:latin typeface="Arial"/>
                <a:ea typeface="Arial"/>
                <a:cs typeface="Arial"/>
              </a:rPr>
              <a:t>STUDIO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CCAD0B2-E3AB-4EC3-9BDD-0BFFAB5CF9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667125"/>
            <a:ext cx="5619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FFD978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FFD978"/>
                </a:solidFill>
                <a:latin typeface="Arial"/>
                <a:ea typeface="Arial"/>
                <a:cs typeface="Arial"/>
              </a:rPr>
              <a:t>Teach once. Speak naturally. Replay safely.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6D8CBB1-3683-4198-9B38-EBD6A43329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191000"/>
            <a:ext cx="53340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AFC3D4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AFC3D4"/>
                </a:solidFill>
                <a:latin typeface="Arial"/>
                <a:ea typeface="Arial"/>
                <a:cs typeface="Arial"/>
              </a:rPr>
              <a:t>A local, accessibility-first Android prototype for verified voice macros in native apps.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3A3FBC0-362B-4C50-B87C-C93E810EE4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286375"/>
            <a:ext cx="1790700" cy="3048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73A50"/>
          </a:solidFill>
          <a:ln xmlns:a="http://schemas.openxmlformats.org/drawingml/2006/main" w="9525">
            <a:solidFill>
              <a:srgbClr val="173A50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D15C253-6832-437C-95FE-821E9219EC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305425"/>
            <a:ext cx="1600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FD978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FFD978"/>
                </a:solidFill>
                <a:latin typeface="Arial"/>
                <a:ea typeface="Arial"/>
                <a:cs typeface="Arial"/>
              </a:rPr>
              <a:t>TEAM STRAWHATS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3009F5C-3928-4309-96FF-8F91A85F61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676900"/>
            <a:ext cx="5429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F8FAFC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F8FAFC"/>
                </a:solidFill>
                <a:latin typeface="Arial"/>
                <a:ea typeface="Arial"/>
                <a:cs typeface="Arial"/>
              </a:rPr>
              <a:t>Soumya Ranjan Sahoo  ·  Sandesh Anand</a:t>
            </a:r>
          </a:p>
          <a:p xmlns:a="http://schemas.openxmlformats.org/drawingml/2006/main">
            <a:pPr algn="l">
              <a:defRPr sz="1125" b="0">
                <a:solidFill>
                  <a:srgbClr val="F8FAFC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F8FAFC"/>
                </a:solidFill>
                <a:latin typeface="Arial"/>
                <a:ea typeface="Arial"/>
                <a:cs typeface="Arial"/>
              </a:rPr>
              <a:t>G Vivek  ·  Ankit Kumar Yadav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408A9B5-552F-4D27-A9AF-696543D1F0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400050"/>
            <a:ext cx="4324350" cy="5695950"/>
          </a:xfrm>
          <a:prstGeom xmlns:a="http://schemas.openxmlformats.org/drawingml/2006/main" prst="roundRect">
            <a:avLst>
              <a:gd name="adj" fmla="val 6608"/>
            </a:avLst>
          </a:prstGeom>
          <a:solidFill xmlns:a="http://schemas.openxmlformats.org/drawingml/2006/main">
            <a:srgbClr val="132F44"/>
          </a:solidFill>
          <a:ln xmlns:a="http://schemas.openxmlformats.org/drawingml/2006/main" w="9525">
            <a:solidFill>
              <a:srgbClr val="294C63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pic>
        <p:nvPicPr>
          <p:cNvPr id="3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69761f8c8b14e51"/>
          <a:srcRect xmlns:a="http://schemas.openxmlformats.org/drawingml/2006/main" l="0" t="14458" r="0" b="14458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381875" y="647700"/>
            <a:ext cx="3695700" cy="5200650"/>
          </a:xfrm>
          <a:prstGeom xmlns:a="http://schemas.openxmlformats.org/drawingml/2006/main" prst="roundRect">
            <a:avLst>
              <a:gd name="adj" fmla="val 4124"/>
            </a:avLst>
          </a:prstGeom>
        </p:spPr>
      </p:pic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A4C156E-28D1-4F34-8A9F-583FE517BC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5562600"/>
            <a:ext cx="2857500" cy="3048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DD4BF"/>
          </a:solidFill>
          <a:ln xmlns:a="http://schemas.openxmlformats.org/drawingml/2006/main" w="9525">
            <a:solidFill>
              <a:srgbClr val="2DD4BF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F1958E3-DC12-4CF4-A976-D07FA2797E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5581650"/>
            <a:ext cx="2667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071421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071421"/>
                </a:solidFill>
                <a:latin typeface="Arial"/>
                <a:ea typeface="Arial"/>
                <a:cs typeface="Arial"/>
              </a:rPr>
              <a:t>LIVE VERIFIED · QUANTITY 2</a:t>
            </a:r>
          </a:p>
        </p:txBody>
      </p:sp>
    </p:spTree>
    <p:extLst>
      <p:ext uri="{BB962C8B-B14F-4D97-AF65-F5344CB8AC3E}">
        <p14:creationId xmlns:p14="http://schemas.microsoft.com/office/powerpoint/2010/main" val="1527299430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07142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B0A1FDF-1C42-48D2-B487-A50E20276F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960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94C63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A9E66F5-6126-467F-A93A-8450A65274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476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AFC3D4"/>
                </a:solidFill>
                <a:latin typeface="Arial"/>
                <a:ea typeface="Arial"/>
                <a:cs typeface="Arial"/>
              </a:defRPr>
            </a:pPr>
            <a:r>
              <a:rPr sz="750" b="0">
                <a:solidFill>
                  <a:srgbClr val="AFC3D4"/>
                </a:solidFill>
                <a:latin typeface="Arial"/>
                <a:ea typeface="Arial"/>
                <a:cs typeface="Arial"/>
              </a:rPr>
              <a:t>STRAWHATS  •  WHY IT MATTERS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2758239-1FA8-42B5-9766-601D65BFD6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534150"/>
            <a:ext cx="6286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750" b="1">
                <a:solidFill>
                  <a:srgbClr val="F4B942"/>
                </a:solidFill>
                <a:latin typeface="Arial"/>
                <a:ea typeface="Arial"/>
                <a:cs typeface="Arial"/>
              </a:defRPr>
            </a:pPr>
            <a:r>
              <a:rPr sz="750" b="1">
                <a:solidFill>
                  <a:srgbClr val="F4B942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E77834F-69F0-4FA1-8EAB-7220EFA082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495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F4B942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F4B942"/>
                </a:solidFill>
                <a:latin typeface="Arial"/>
                <a:ea typeface="Arial"/>
                <a:cs typeface="Arial"/>
              </a:rPr>
              <a:t>01 · PROBLEM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8D3F92D-3A46-46B0-AF6B-5012A0A30D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8175"/>
            <a:ext cx="10763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F8FAFC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F8FAFC"/>
                </a:solidFill>
                <a:latin typeface="Arial"/>
                <a:ea typeface="Arial"/>
                <a:cs typeface="Arial"/>
              </a:rPr>
              <a:t>Voice control breaks where people need it most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DBA724A-735F-48C7-89DB-41BCFAACD6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219200"/>
            <a:ext cx="10668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AFC3D4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AFC3D4"/>
                </a:solidFill>
                <a:latin typeface="Arial"/>
                <a:ea typeface="Arial"/>
                <a:cs typeface="Arial"/>
              </a:rPr>
              <a:t>Native apps change, repeated controls look alike, and sensitive screens demand a human handoff.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C56D32B-004F-4BF2-AD5B-DB54817C77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52625"/>
            <a:ext cx="3352800" cy="2552700"/>
          </a:xfrm>
          <a:prstGeom xmlns:a="http://schemas.openxmlformats.org/drawingml/2006/main" prst="roundRect">
            <a:avLst>
              <a:gd name="adj" fmla="val 8209"/>
            </a:avLst>
          </a:prstGeom>
          <a:solidFill xmlns:a="http://schemas.openxmlformats.org/drawingml/2006/main">
            <a:srgbClr val="132F44"/>
          </a:solidFill>
          <a:ln xmlns:a="http://schemas.openxmlformats.org/drawingml/2006/main" w="9525">
            <a:solidFill>
              <a:srgbClr val="294C63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1A6CE90-4D7E-4F73-BAC8-6AEB5DAD43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152650"/>
            <a:ext cx="5143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F8A4C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FF8A4C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98565D2-6443-4B06-8030-21AFA85140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628900"/>
            <a:ext cx="2857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F8FAFC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F8FAFC"/>
                </a:solidFill>
                <a:latin typeface="Arial"/>
                <a:ea typeface="Arial"/>
                <a:cs typeface="Arial"/>
              </a:rPr>
              <a:t>Fragile automation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0DCF942-46CF-479C-A789-52472FB272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257550"/>
            <a:ext cx="2857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AFC3D4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AFC3D4"/>
                </a:solidFill>
                <a:latin typeface="Arial"/>
                <a:ea typeface="Arial"/>
                <a:cs typeface="Arial"/>
              </a:rPr>
              <a:t>Coordinates drift when layout, offers, or scrolling changes.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EE8EB9C-AA68-40C6-8D60-B7F22331AB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248150"/>
            <a:ext cx="28956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8A4C"/>
          </a:solidFill>
          <a:ln xmlns:a="http://schemas.openxmlformats.org/drawingml/2006/main" w="0">
            <a:solidFill>
              <a:srgbClr val="FF8A4C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901121A-78FB-4545-B1C5-A861011560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1952625"/>
            <a:ext cx="3352800" cy="2552700"/>
          </a:xfrm>
          <a:prstGeom xmlns:a="http://schemas.openxmlformats.org/drawingml/2006/main" prst="roundRect">
            <a:avLst>
              <a:gd name="adj" fmla="val 8209"/>
            </a:avLst>
          </a:prstGeom>
          <a:solidFill xmlns:a="http://schemas.openxmlformats.org/drawingml/2006/main">
            <a:srgbClr val="132F44"/>
          </a:solidFill>
          <a:ln xmlns:a="http://schemas.openxmlformats.org/drawingml/2006/main" w="9525">
            <a:solidFill>
              <a:srgbClr val="294C63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B627F5E-C45C-4309-A3AA-F66C461372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2152650"/>
            <a:ext cx="5143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4B942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F4B942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C94E350-7DD0-4EC4-9B9E-D966C91439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2628900"/>
            <a:ext cx="2857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F8FAFC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F8FAFC"/>
                </a:solidFill>
                <a:latin typeface="Arial"/>
                <a:ea typeface="Arial"/>
                <a:cs typeface="Arial"/>
              </a:rPr>
              <a:t>Ambiguous targets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25F1051-26CA-486F-996A-C1AED9F9C1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3257550"/>
            <a:ext cx="2857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AFC3D4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AFC3D4"/>
                </a:solidFill>
                <a:latin typeface="Arial"/>
                <a:ea typeface="Arial"/>
                <a:cs typeface="Arial"/>
              </a:rPr>
              <a:t>A menu can expose many identical ADD buttons to accessibility.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3923BFF-D8F2-4B67-9195-15528B32F0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4248150"/>
            <a:ext cx="28956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B942"/>
          </a:solidFill>
          <a:ln xmlns:a="http://schemas.openxmlformats.org/drawingml/2006/main" w="0">
            <a:solidFill>
              <a:srgbClr val="F4B942"/>
            </a:solidFill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7E6751C-3581-46E4-BC6C-9A20074B19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1952625"/>
            <a:ext cx="3352800" cy="2552700"/>
          </a:xfrm>
          <a:prstGeom xmlns:a="http://schemas.openxmlformats.org/drawingml/2006/main" prst="roundRect">
            <a:avLst>
              <a:gd name="adj" fmla="val 8209"/>
            </a:avLst>
          </a:prstGeom>
          <a:solidFill xmlns:a="http://schemas.openxmlformats.org/drawingml/2006/main">
            <a:srgbClr val="132F44"/>
          </a:solidFill>
          <a:ln xmlns:a="http://schemas.openxmlformats.org/drawingml/2006/main" w="9525">
            <a:solidFill>
              <a:srgbClr val="294C63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1471AC5-C2A1-4746-A2E6-EAED5675B1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2152650"/>
            <a:ext cx="5143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F5F6D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FF5F6D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9DBA029-F069-4A5D-A1A7-7DA0A49524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2628900"/>
            <a:ext cx="2857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F8FAFC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F8FAFC"/>
                </a:solidFill>
                <a:latin typeface="Arial"/>
                <a:ea typeface="Arial"/>
                <a:cs typeface="Arial"/>
              </a:rPr>
              <a:t>Sensitive states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4CECD26-0775-4A3F-99BB-156B7A0907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3257550"/>
            <a:ext cx="2857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AFC3D4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AFC3D4"/>
                </a:solidFill>
                <a:latin typeface="Arial"/>
                <a:ea typeface="Arial"/>
                <a:cs typeface="Arial"/>
              </a:rPr>
              <a:t>Login, OTP, password and payment screens must stop automation.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1298BD5-7AEB-4C11-9851-3CEBBA6B93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4248150"/>
            <a:ext cx="28956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5F6D"/>
          </a:solidFill>
          <a:ln xmlns:a="http://schemas.openxmlformats.org/drawingml/2006/main" w="0">
            <a:solidFill>
              <a:srgbClr val="FF5F6D"/>
            </a:solidFill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7809C3F-4911-4730-BCD8-9676C17157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38700"/>
            <a:ext cx="10744200" cy="1066800"/>
          </a:xfrm>
          <a:prstGeom xmlns:a="http://schemas.openxmlformats.org/drawingml/2006/main" prst="roundRect">
            <a:avLst>
              <a:gd name="adj" fmla="val 16071"/>
            </a:avLst>
          </a:prstGeom>
          <a:solidFill xmlns:a="http://schemas.openxmlformats.org/drawingml/2006/main">
            <a:srgbClr val="102B3F"/>
          </a:solidFill>
          <a:ln xmlns:a="http://schemas.openxmlformats.org/drawingml/2006/main" w="9525">
            <a:solidFill>
              <a:srgbClr val="F4B942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EC22EFE-0EF7-4654-A1D3-521CAB61B1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010150"/>
            <a:ext cx="1714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F4B942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F4B942"/>
                </a:solidFill>
                <a:latin typeface="Arial"/>
                <a:ea typeface="Arial"/>
                <a:cs typeface="Arial"/>
              </a:rPr>
              <a:t>DESIGN QUESTION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504700E-31F7-4499-94CE-52DBA574B8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276850"/>
            <a:ext cx="10096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94697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8FAFC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F8FAFC"/>
                </a:solidFill>
                <a:latin typeface="Arial"/>
                <a:ea typeface="Arial"/>
                <a:cs typeface="Arial"/>
              </a:rPr>
              <a:t>Can a user teach one action by demonstration, replay it by voice, and still prove that the correct UI state changed?</a:t>
            </a:r>
          </a:p>
        </p:txBody>
      </p:sp>
    </p:spTree>
    <p:extLst>
      <p:ext uri="{BB962C8B-B14F-4D97-AF65-F5344CB8AC3E}">
        <p14:creationId xmlns:p14="http://schemas.microsoft.com/office/powerpoint/2010/main" val="1662550431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07142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83620334-03F9-4A01-B1B1-AEC913DE73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960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94C63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032D97C-8F47-4AEE-B154-6C52A16E85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476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AFC3D4"/>
                </a:solidFill>
                <a:latin typeface="Arial"/>
                <a:ea typeface="Arial"/>
                <a:cs typeface="Arial"/>
              </a:defRPr>
            </a:pPr>
            <a:r>
              <a:rPr sz="750" b="0">
                <a:solidFill>
                  <a:srgbClr val="AFC3D4"/>
                </a:solidFill>
                <a:latin typeface="Arial"/>
                <a:ea typeface="Arial"/>
                <a:cs typeface="Arial"/>
              </a:rPr>
              <a:t>STRAWHATS  •  PRODUCT LOOP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A3BAB7B-B5A9-4A7C-B879-7977897ACF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534150"/>
            <a:ext cx="6286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750" b="1">
                <a:solidFill>
                  <a:srgbClr val="F4B942"/>
                </a:solidFill>
                <a:latin typeface="Arial"/>
                <a:ea typeface="Arial"/>
                <a:cs typeface="Arial"/>
              </a:defRPr>
            </a:pPr>
            <a:r>
              <a:rPr sz="750" b="1">
                <a:solidFill>
                  <a:srgbClr val="F4B942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92D67C7-8CEA-4AD7-8D1E-23D020ABA1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495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F4B942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F4B942"/>
                </a:solidFill>
                <a:latin typeface="Arial"/>
                <a:ea typeface="Arial"/>
                <a:cs typeface="Arial"/>
              </a:rPr>
              <a:t>02 · PRODUCT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8BCE0FC-ABE3-49E7-B9DA-102332E1EE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8175"/>
            <a:ext cx="10763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F8FAFC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F8FAFC"/>
                </a:solidFill>
                <a:latin typeface="Arial"/>
                <a:ea typeface="Arial"/>
                <a:cs typeface="Arial"/>
              </a:rPr>
              <a:t>A three-part loop: teach, speak, verify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04B41B1-F9FF-4A8C-8601-7754B600CE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219200"/>
            <a:ext cx="10668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AFC3D4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AFC3D4"/>
                </a:solidFill>
                <a:latin typeface="Arial"/>
                <a:ea typeface="Arial"/>
                <a:cs typeface="Arial"/>
              </a:rPr>
              <a:t>The user owns the demonstration; the app stores a selector-based flow and replays only inside a bounded safety envelope.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99306A9-4DB6-4857-B608-1B1B3BBF51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95500"/>
            <a:ext cx="3238500" cy="2952750"/>
          </a:xfrm>
          <a:prstGeom xmlns:a="http://schemas.openxmlformats.org/drawingml/2006/main" prst="roundRect">
            <a:avLst>
              <a:gd name="adj" fmla="val 7742"/>
            </a:avLst>
          </a:prstGeom>
          <a:solidFill xmlns:a="http://schemas.openxmlformats.org/drawingml/2006/main">
            <a:srgbClr val="132F44"/>
          </a:solidFill>
          <a:ln xmlns:a="http://schemas.openxmlformats.org/drawingml/2006/main" w="9525">
            <a:solidFill>
              <a:srgbClr val="F4B942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5565DEC-3D4B-41AB-BC76-0B56A3F491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343150"/>
            <a:ext cx="495300" cy="495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4B942"/>
          </a:solidFill>
          <a:ln xmlns:a="http://schemas.openxmlformats.org/drawingml/2006/main" w="0">
            <a:solidFill>
              <a:srgbClr val="F4B942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E6DB4B0-5FAB-489F-B39E-DC1FC9C6ED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343150"/>
            <a:ext cx="4953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071421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071421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58EDF3B-DA3C-4086-B3E3-11FE9D8A40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009900"/>
            <a:ext cx="2762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F4B942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F4B942"/>
                </a:solidFill>
                <a:latin typeface="Arial"/>
                <a:ea typeface="Arial"/>
                <a:cs typeface="Arial"/>
              </a:rPr>
              <a:t>TEACH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8F38D9B-4688-45D6-A55E-A8E9799C0A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562350"/>
            <a:ext cx="27622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F8FAFC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F8FAFC"/>
                </a:solidFill>
                <a:latin typeface="Arial"/>
                <a:ea typeface="Arial"/>
                <a:cs typeface="Arial"/>
              </a:rPr>
              <a:t>Say a unique command, then tap the target once.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0BD938E-808C-49D4-852F-6FFB436D09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476750"/>
            <a:ext cx="2000250" cy="3048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73A50"/>
          </a:solidFill>
          <a:ln xmlns:a="http://schemas.openxmlformats.org/drawingml/2006/main" w="9525">
            <a:solidFill>
              <a:srgbClr val="173A50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3A35642-18C2-4D33-9BD1-7D9A2E8DF6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4495800"/>
            <a:ext cx="1809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AFC3D4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AFC3D4"/>
                </a:solidFill>
                <a:latin typeface="Arial"/>
                <a:ea typeface="Arial"/>
                <a:cs typeface="Arial"/>
              </a:rPr>
              <a:t>User demonstrates intent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4C74412-DAE3-4508-BA9E-5CBAA4C2E6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48175" y="2095500"/>
            <a:ext cx="3238500" cy="2952750"/>
          </a:xfrm>
          <a:prstGeom xmlns:a="http://schemas.openxmlformats.org/drawingml/2006/main" prst="roundRect">
            <a:avLst>
              <a:gd name="adj" fmla="val 7742"/>
            </a:avLst>
          </a:prstGeom>
          <a:solidFill xmlns:a="http://schemas.openxmlformats.org/drawingml/2006/main">
            <a:srgbClr val="132F44"/>
          </a:solidFill>
          <a:ln xmlns:a="http://schemas.openxmlformats.org/drawingml/2006/main" w="9525">
            <a:solidFill>
              <a:srgbClr val="61A8FF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A443A8A-D2AB-45F9-915E-C3523F3859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76775" y="2343150"/>
            <a:ext cx="495300" cy="495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1A8FF"/>
          </a:solidFill>
          <a:ln xmlns:a="http://schemas.openxmlformats.org/drawingml/2006/main" w="0">
            <a:solidFill>
              <a:srgbClr val="61A8FF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555F074-5011-4323-AABD-DFAA3DB3F2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76775" y="2343150"/>
            <a:ext cx="4953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071421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071421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56169EB-9915-4F5D-9ACA-4DCDAEAD0A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76775" y="3009900"/>
            <a:ext cx="2762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61A8FF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61A8FF"/>
                </a:solidFill>
                <a:latin typeface="Arial"/>
                <a:ea typeface="Arial"/>
                <a:cs typeface="Arial"/>
              </a:rPr>
              <a:t>SPEAK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BFBB8BB-A386-43B7-89DD-02F2A06A1C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76775" y="3562350"/>
            <a:ext cx="27622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F8FAFC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F8FAFC"/>
                </a:solidFill>
                <a:latin typeface="Arial"/>
                <a:ea typeface="Arial"/>
                <a:cs typeface="Arial"/>
              </a:rPr>
              <a:t>Use the saved name or a supported paraphrase and quantity.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737F3AA-4884-49F6-868B-35462FEA1A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76775" y="4476750"/>
            <a:ext cx="2000250" cy="3048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73A50"/>
          </a:solidFill>
          <a:ln xmlns:a="http://schemas.openxmlformats.org/drawingml/2006/main" w="9525">
            <a:solidFill>
              <a:srgbClr val="173A50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F3925D8-6B0F-4E2B-8E17-46CF45C7D1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72025" y="4495800"/>
            <a:ext cx="1809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AFC3D4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AFC3D4"/>
                </a:solidFill>
                <a:latin typeface="Arial"/>
                <a:ea typeface="Arial"/>
                <a:cs typeface="Arial"/>
              </a:rPr>
              <a:t>English + Hinglish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20CDF6A-F379-4405-BFA0-31AC68EDBD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2095500"/>
            <a:ext cx="3238500" cy="2952750"/>
          </a:xfrm>
          <a:prstGeom xmlns:a="http://schemas.openxmlformats.org/drawingml/2006/main" prst="roundRect">
            <a:avLst>
              <a:gd name="adj" fmla="val 7742"/>
            </a:avLst>
          </a:prstGeom>
          <a:solidFill xmlns:a="http://schemas.openxmlformats.org/drawingml/2006/main">
            <a:srgbClr val="113B42"/>
          </a:solidFill>
          <a:ln xmlns:a="http://schemas.openxmlformats.org/drawingml/2006/main" w="9525">
            <a:solidFill>
              <a:srgbClr val="2DD4BF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C190313-114B-429A-82AB-B8D07B2CD0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2343150"/>
            <a:ext cx="495300" cy="495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DD4BF"/>
          </a:solidFill>
          <a:ln xmlns:a="http://schemas.openxmlformats.org/drawingml/2006/main" w="0">
            <a:solidFill>
              <a:srgbClr val="2DD4BF"/>
            </a:solidFill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7E76B5B-BDBD-4C78-A48E-E5347C01E9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2343150"/>
            <a:ext cx="4953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071421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071421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0603965-4284-4A7A-83A0-FC0D80A0DF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3009900"/>
            <a:ext cx="2762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2DD4BF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2DD4BF"/>
                </a:solidFill>
                <a:latin typeface="Arial"/>
                <a:ea typeface="Arial"/>
                <a:cs typeface="Arial"/>
              </a:rPr>
              <a:t>VERIFY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EABAF04-1A99-4121-9D08-6A6099554D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3562350"/>
            <a:ext cx="27622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F8FAFC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F8FAFC"/>
                </a:solidFill>
                <a:latin typeface="Arial"/>
                <a:ea typeface="Arial"/>
                <a:cs typeface="Arial"/>
              </a:rPr>
              <a:t>Recheck safety, act, then confirm a structural UI change.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DB7FA641-D00E-441E-B4F6-282463A3BB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4476750"/>
            <a:ext cx="2000250" cy="3048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73A50"/>
          </a:solidFill>
          <a:ln xmlns:a="http://schemas.openxmlformats.org/drawingml/2006/main" w="9525">
            <a:solidFill>
              <a:srgbClr val="173A50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FAEADC7F-2BAD-48A3-8AB6-1BAB68CC72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4495800"/>
            <a:ext cx="1809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AFC3D4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AFC3D4"/>
                </a:solidFill>
                <a:latin typeface="Arial"/>
                <a:ea typeface="Arial"/>
                <a:cs typeface="Arial"/>
              </a:rPr>
              <a:t>Fail closed on doubt</a:t>
            </a:r>
          </a:p>
        </p:txBody>
      </p:sp>
      <p:cxnSp>
        <p:nvCxnSpPr>
          <p:cNvPr id="59" name=""/>
          <p:cNvCxnSpPr>
            <a:stCxn xmlns:a="http://schemas.openxmlformats.org/drawingml/2006/main" id="7" idx="3"/>
            <a:endCxn xmlns:a="http://schemas.openxmlformats.org/drawingml/2006/main" id="14" idx="1"/>
          </p:cNvCxnSpPr>
          <p:nvPr/>
        </p:nvCxnSpPr>
        <p:spPr>
          <a:xfrm xmlns:a="http://schemas.openxmlformats.org/drawingml/2006/main">
            <a:off x="3924300" y="3571875"/>
            <a:ext cx="523875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F4B942"/>
            </a:solidFill>
            <a:prstDash val="solid"/>
            <a:headEnd type="triangle" w="sm" len="sm"/>
          </a:ln>
        </p:spPr>
      </p:cxnSp>
      <p:cxnSp>
        <p:nvCxnSpPr>
          <p:cNvPr id="60" name=""/>
          <p:cNvCxnSpPr>
            <a:stCxn xmlns:a="http://schemas.openxmlformats.org/drawingml/2006/main" id="14" idx="3"/>
            <a:endCxn xmlns:a="http://schemas.openxmlformats.org/drawingml/2006/main" id="21" idx="1"/>
          </p:cNvCxnSpPr>
          <p:nvPr/>
        </p:nvCxnSpPr>
        <p:spPr>
          <a:xfrm xmlns:a="http://schemas.openxmlformats.org/drawingml/2006/main">
            <a:off x="7686675" y="3571875"/>
            <a:ext cx="523875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61A8FF"/>
            </a:solidFill>
            <a:prstDash val="solid"/>
            <a:headEnd type="triangle" w="sm" len="sm"/>
          </a:ln>
        </p:spPr>
      </p:cxn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688F8954-C4E6-49AC-B572-9B52223DF4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5353050"/>
            <a:ext cx="30861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D978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FFD978"/>
                </a:solidFill>
                <a:latin typeface="Arial"/>
                <a:ea typeface="Arial"/>
                <a:cs typeface="Arial"/>
              </a:rPr>
              <a:t>Observed outcome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3A6ABC92-33B2-437E-AA0D-48F732B511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86125" y="5657850"/>
            <a:ext cx="5619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AFC3D4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AFC3D4"/>
                </a:solidFill>
                <a:latin typeface="Arial"/>
                <a:ea typeface="Arial"/>
                <a:cs typeface="Arial"/>
              </a:rPr>
              <a:t>Complete · Blocked · Failed — always stated visibly and aloud</a:t>
            </a:r>
          </a:p>
        </p:txBody>
      </p:sp>
    </p:spTree>
    <p:extLst>
      <p:ext uri="{BB962C8B-B14F-4D97-AF65-F5344CB8AC3E}">
        <p14:creationId xmlns:p14="http://schemas.microsoft.com/office/powerpoint/2010/main" val="372503388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07142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0D9DFFFA-7B34-4C18-9AF5-AD5912E6D1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960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94C63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4897959-689F-4F52-8BCE-47CDDC4578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476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AFC3D4"/>
                </a:solidFill>
                <a:latin typeface="Arial"/>
                <a:ea typeface="Arial"/>
                <a:cs typeface="Arial"/>
              </a:defRPr>
            </a:pPr>
            <a:r>
              <a:rPr sz="750" b="0">
                <a:solidFill>
                  <a:srgbClr val="AFC3D4"/>
                </a:solidFill>
                <a:latin typeface="Arial"/>
                <a:ea typeface="Arial"/>
                <a:cs typeface="Arial"/>
              </a:rPr>
              <a:t>STRAWHATS  •  ARCHITECTURE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FCBFDB8-F957-4BA0-AC91-9D32F7566E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534150"/>
            <a:ext cx="6286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750" b="1">
                <a:solidFill>
                  <a:srgbClr val="F4B942"/>
                </a:solidFill>
                <a:latin typeface="Arial"/>
                <a:ea typeface="Arial"/>
                <a:cs typeface="Arial"/>
              </a:defRPr>
            </a:pPr>
            <a:r>
              <a:rPr sz="750" b="1">
                <a:solidFill>
                  <a:srgbClr val="F4B942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569F48C-C690-488B-9204-EF92E3D814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495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F4B942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F4B942"/>
                </a:solidFill>
                <a:latin typeface="Arial"/>
                <a:ea typeface="Arial"/>
                <a:cs typeface="Arial"/>
              </a:rPr>
              <a:t>03 · PIPELINE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7454FD6-48F9-4FF4-8030-529DD4C14D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8175"/>
            <a:ext cx="10763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F8FAFC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F8FAFC"/>
                </a:solidFill>
                <a:latin typeface="Arial"/>
                <a:ea typeface="Arial"/>
                <a:cs typeface="Arial"/>
              </a:rPr>
              <a:t>Deterministic orchestration around Android Accessibility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7339592-A4FD-49C3-926E-8F93AC5574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219200"/>
            <a:ext cx="10668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AFC3D4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AFC3D4"/>
                </a:solidFill>
                <a:latin typeface="Arial"/>
                <a:ea typeface="Arial"/>
                <a:cs typeface="Arial"/>
              </a:rPr>
              <a:t>Every action passes through matching, a fresh safety gate, target resolution and a postcondition.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076A890-1D1C-4F12-9071-2E6FAB74CF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00250"/>
            <a:ext cx="2286000" cy="120015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132F44"/>
          </a:solidFill>
          <a:ln xmlns:a="http://schemas.openxmlformats.org/drawingml/2006/main" w="9525">
            <a:solidFill>
              <a:srgbClr val="61A8FF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A7EDCCF-ED0C-4B0E-888F-DB5E04E317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133600"/>
            <a:ext cx="4000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61A8FF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61A8FF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9C13CE2-56C8-479C-953A-AF7BC5707B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409825"/>
            <a:ext cx="19812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8FAFC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F8FAFC"/>
                </a:solidFill>
                <a:latin typeface="Arial"/>
                <a:ea typeface="Arial"/>
                <a:cs typeface="Arial"/>
              </a:rPr>
              <a:t>SpeechRecognizer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4DB5632-9A6D-4FB4-9575-D380581F5C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762250"/>
            <a:ext cx="1981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AFC3D4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AFC3D4"/>
                </a:solidFill>
                <a:latin typeface="Arial"/>
                <a:ea typeface="Arial"/>
                <a:cs typeface="Arial"/>
              </a:rPr>
              <a:t>up to 5 alternatives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EC7BB67-8428-4966-8B8B-EEBEDB03E2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2800" y="2000250"/>
            <a:ext cx="2286000" cy="120015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132F44"/>
          </a:solidFill>
          <a:ln xmlns:a="http://schemas.openxmlformats.org/drawingml/2006/main" w="9525">
            <a:solidFill>
              <a:srgbClr val="F4B942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4D644DE-D44B-4D74-ACD8-CC7B4047ED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2133600"/>
            <a:ext cx="4000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F4B942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F4B942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8AA3D44-85F4-4AA4-8226-FCAE0F9BD5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2409825"/>
            <a:ext cx="19812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8FAFC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F8FAFC"/>
                </a:solidFill>
                <a:latin typeface="Arial"/>
                <a:ea typeface="Arial"/>
                <a:cs typeface="Arial"/>
              </a:rPr>
              <a:t>Intent + Quantity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096519F-212D-4FB8-942E-2C2F5DE533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2762250"/>
            <a:ext cx="1981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AFC3D4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AFC3D4"/>
                </a:solidFill>
                <a:latin typeface="Arial"/>
                <a:ea typeface="Arial"/>
                <a:cs typeface="Arial"/>
              </a:rPr>
              <a:t>flow name · 1–5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97EEF62-85DD-486C-9B7A-8E152AF89A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000250"/>
            <a:ext cx="2286000" cy="120015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132F44"/>
          </a:solidFill>
          <a:ln xmlns:a="http://schemas.openxmlformats.org/drawingml/2006/main" w="9525">
            <a:solidFill>
              <a:srgbClr val="AFC3D4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F8D0A2D-DA39-4081-82B0-0909C45BC3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2133600"/>
            <a:ext cx="4000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AFC3D4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AFC3D4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D5A55B8-3478-44AD-8763-BE8E9A5B79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2409825"/>
            <a:ext cx="19812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8FAFC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F8FAFC"/>
                </a:solidFill>
                <a:latin typeface="Arial"/>
                <a:ea typeface="Arial"/>
                <a:cs typeface="Arial"/>
              </a:rPr>
              <a:t>Room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0B7CAE0-805D-48B4-92A0-A473092E42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2762250"/>
            <a:ext cx="1981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AFC3D4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AFC3D4"/>
                </a:solidFill>
                <a:latin typeface="Arial"/>
                <a:ea typeface="Arial"/>
                <a:cs typeface="Arial"/>
              </a:rPr>
              <a:t>flows + ordered steps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59F1626-02D6-4656-82DE-9159652E49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2000250"/>
            <a:ext cx="2286000" cy="120015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132F44"/>
          </a:solidFill>
          <a:ln xmlns:a="http://schemas.openxmlformats.org/drawingml/2006/main" w="9525">
            <a:solidFill>
              <a:srgbClr val="FF8A4C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717DEB1-B285-4D2A-A50B-C87C405DBF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2133600"/>
            <a:ext cx="4000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FF8A4C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FF8A4C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B2157F0-4BD7-47C6-9E99-CFCC958E1D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2409825"/>
            <a:ext cx="19812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8FAFC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F8FAFC"/>
                </a:solidFill>
                <a:latin typeface="Arial"/>
                <a:ea typeface="Arial"/>
                <a:cs typeface="Arial"/>
              </a:rPr>
              <a:t>Safety Gate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7E76C92-FFBC-4733-B0D0-5688F34DAD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2762250"/>
            <a:ext cx="1981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AFC3D4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AFC3D4"/>
                </a:solidFill>
                <a:latin typeface="Arial"/>
                <a:ea typeface="Arial"/>
                <a:cs typeface="Arial"/>
              </a:rPr>
              <a:t>fresh screen check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A94A115-92F1-4F08-B5E0-E8B8BCB773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4095750"/>
            <a:ext cx="2286000" cy="120015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132F44"/>
          </a:solidFill>
          <a:ln xmlns:a="http://schemas.openxmlformats.org/drawingml/2006/main" w="9525">
            <a:solidFill>
              <a:srgbClr val="F4B942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9458C05-5A49-48F3-96EA-111F404128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4229100"/>
            <a:ext cx="4000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F4B942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F4B942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336CDEA-B50E-4ED6-A277-506105BF88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4505325"/>
            <a:ext cx="19812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8FAFC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F8FAFC"/>
                </a:solidFill>
                <a:latin typeface="Arial"/>
                <a:ea typeface="Arial"/>
                <a:cs typeface="Arial"/>
              </a:rPr>
              <a:t>Selector Resolver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3F65B7D9-5EE7-479C-94D5-B1F1BEA3ED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4857750"/>
            <a:ext cx="1981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AFC3D4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AFC3D4"/>
                </a:solidFill>
                <a:latin typeface="Arial"/>
                <a:ea typeface="Arial"/>
                <a:cs typeface="Arial"/>
              </a:rPr>
              <a:t>text · context · position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0300443B-56EA-4EC7-87B1-FB7EEBB95E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4095750"/>
            <a:ext cx="2286000" cy="120015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132F44"/>
          </a:solidFill>
          <a:ln xmlns:a="http://schemas.openxmlformats.org/drawingml/2006/main" w="9525">
            <a:solidFill>
              <a:srgbClr val="61A8FF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B30142CF-1A41-4955-877B-D7B2B8E76E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4229100"/>
            <a:ext cx="4000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61A8FF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61A8FF"/>
                </a:solidFill>
                <a:latin typeface="Arial"/>
                <a:ea typeface="Arial"/>
                <a:cs typeface="Arial"/>
              </a:rPr>
              <a:t>06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90D16416-7AF1-4F92-A4BA-3D4C71F558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4505325"/>
            <a:ext cx="19812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8FAFC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F8FAFC"/>
                </a:solidFill>
                <a:latin typeface="Arial"/>
                <a:ea typeface="Arial"/>
                <a:cs typeface="Arial"/>
              </a:rPr>
              <a:t>Accessibility Action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AE68EB98-4480-4713-A054-026706D812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4857750"/>
            <a:ext cx="1981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AFC3D4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AFC3D4"/>
                </a:solidFill>
                <a:latin typeface="Arial"/>
                <a:ea typeface="Arial"/>
                <a:cs typeface="Arial"/>
              </a:rPr>
              <a:t>single verified dispatch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F41F7950-BAB5-478B-82D2-531926D88E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2800" y="4095750"/>
            <a:ext cx="2286000" cy="120015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132F44"/>
          </a:solidFill>
          <a:ln xmlns:a="http://schemas.openxmlformats.org/drawingml/2006/main" w="9525">
            <a:solidFill>
              <a:srgbClr val="2DD4BF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C87D7512-28E2-4357-991E-936228C914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4229100"/>
            <a:ext cx="4000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2DD4BF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2DD4BF"/>
                </a:solidFill>
                <a:latin typeface="Arial"/>
                <a:ea typeface="Arial"/>
                <a:cs typeface="Arial"/>
              </a:rPr>
              <a:t>07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AFE8769E-0A03-4739-8D24-EDABECDF58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4505325"/>
            <a:ext cx="19812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8FAFC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F8FAFC"/>
                </a:solidFill>
                <a:latin typeface="Arial"/>
                <a:ea typeface="Arial"/>
                <a:cs typeface="Arial"/>
              </a:rPr>
              <a:t>Postcondition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356ED1EF-9E49-4868-9843-21B49EAE02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4857750"/>
            <a:ext cx="1981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AFC3D4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AFC3D4"/>
                </a:solidFill>
                <a:latin typeface="Arial"/>
                <a:ea typeface="Arial"/>
                <a:cs typeface="Arial"/>
              </a:rPr>
              <a:t>local structure changed?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C992C051-4784-4A53-A42B-19E3D0A721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95750"/>
            <a:ext cx="2286000" cy="120015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132F44"/>
          </a:solidFill>
          <a:ln xmlns:a="http://schemas.openxmlformats.org/drawingml/2006/main" w="9525">
            <a:solidFill>
              <a:srgbClr val="55D68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2548B22B-D6B4-4D79-826A-08CEC07A21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229100"/>
            <a:ext cx="4000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55D68B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55D68B"/>
                </a:solidFill>
                <a:latin typeface="Arial"/>
                <a:ea typeface="Arial"/>
                <a:cs typeface="Arial"/>
              </a:rPr>
              <a:t>08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B7C95A7B-BB4B-4CCB-877C-F4CC347D7D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505325"/>
            <a:ext cx="19812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8FAFC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F8FAFC"/>
                </a:solidFill>
                <a:latin typeface="Arial"/>
                <a:ea typeface="Arial"/>
                <a:cs typeface="Arial"/>
              </a:rPr>
              <a:t>Overlay + TTS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C29B52D3-0727-4B63-9405-656B8F4280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857750"/>
            <a:ext cx="1981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AFC3D4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AFC3D4"/>
                </a:solidFill>
                <a:latin typeface="Arial"/>
                <a:ea typeface="Arial"/>
                <a:cs typeface="Arial"/>
              </a:rPr>
              <a:t>complete / stop / explain</a:t>
            </a:r>
          </a:p>
        </p:txBody>
      </p:sp>
      <p:cxnSp>
        <p:nvCxnSpPr>
          <p:cNvPr id="86" name=""/>
          <p:cNvCxnSpPr>
            <a:stCxn xmlns:a="http://schemas.openxmlformats.org/drawingml/2006/main" id="7" idx="3"/>
            <a:endCxn xmlns:a="http://schemas.openxmlformats.org/drawingml/2006/main" id="11" idx="1"/>
          </p:cNvCxnSpPr>
          <p:nvPr/>
        </p:nvCxnSpPr>
        <p:spPr>
          <a:xfrm xmlns:a="http://schemas.openxmlformats.org/drawingml/2006/main">
            <a:off x="2895600" y="2600325"/>
            <a:ext cx="4572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94C63"/>
            </a:solidFill>
            <a:prstDash val="solid"/>
            <a:headEnd type="triangle" w="sm" len="sm"/>
          </a:ln>
        </p:spPr>
      </p:cxnSp>
      <p:cxnSp>
        <p:nvCxnSpPr>
          <p:cNvPr id="87" name=""/>
          <p:cNvCxnSpPr>
            <a:stCxn xmlns:a="http://schemas.openxmlformats.org/drawingml/2006/main" id="11" idx="3"/>
            <a:endCxn xmlns:a="http://schemas.openxmlformats.org/drawingml/2006/main" id="15" idx="1"/>
          </p:cNvCxnSpPr>
          <p:nvPr/>
        </p:nvCxnSpPr>
        <p:spPr>
          <a:xfrm xmlns:a="http://schemas.openxmlformats.org/drawingml/2006/main">
            <a:off x="5638800" y="2600325"/>
            <a:ext cx="4572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94C63"/>
            </a:solidFill>
            <a:prstDash val="solid"/>
            <a:headEnd type="triangle" w="sm" len="sm"/>
          </a:ln>
        </p:spPr>
      </p:cxnSp>
      <p:cxnSp>
        <p:nvCxnSpPr>
          <p:cNvPr id="88" name=""/>
          <p:cNvCxnSpPr>
            <a:stCxn xmlns:a="http://schemas.openxmlformats.org/drawingml/2006/main" id="15" idx="3"/>
            <a:endCxn xmlns:a="http://schemas.openxmlformats.org/drawingml/2006/main" id="19" idx="1"/>
          </p:cNvCxnSpPr>
          <p:nvPr/>
        </p:nvCxnSpPr>
        <p:spPr>
          <a:xfrm xmlns:a="http://schemas.openxmlformats.org/drawingml/2006/main">
            <a:off x="8382000" y="2600325"/>
            <a:ext cx="4572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94C63"/>
            </a:solidFill>
            <a:prstDash val="solid"/>
            <a:headEnd type="triangle" w="sm" len="sm"/>
          </a:ln>
        </p:spPr>
      </p:cxnSp>
      <p:cxnSp>
        <p:nvCxnSpPr>
          <p:cNvPr id="89" name=""/>
          <p:cNvCxnSpPr>
            <a:stCxn xmlns:a="http://schemas.openxmlformats.org/drawingml/2006/main" id="19" idx="2"/>
            <a:endCxn xmlns:a="http://schemas.openxmlformats.org/drawingml/2006/main" id="23" idx="3"/>
          </p:cNvCxnSpPr>
          <p:nvPr/>
        </p:nvCxnSpPr>
        <p:spPr>
          <a:xfrm xmlns:a="http://schemas.openxmlformats.org/drawingml/2006/main">
            <a:off x="9982200" y="3200400"/>
            <a:ext cx="1143000" cy="1495425"/>
          </a:xfrm>
          <a:prstGeom xmlns:a="http://schemas.openxmlformats.org/drawingml/2006/main" prst="bentConnector3">
            <a:avLst>
              <a:gd name="adj1" fmla="val 0"/>
            </a:avLst>
          </a:prstGeom>
          <a:ln xmlns:a="http://schemas.openxmlformats.org/drawingml/2006/main" w="19050">
            <a:solidFill>
              <a:srgbClr val="FF8A4C"/>
            </a:solidFill>
            <a:prstDash val="solid"/>
            <a:headEnd type="triangle" w="sm" len="sm"/>
          </a:ln>
        </p:spPr>
      </p:cxnSp>
      <p:cxnSp>
        <p:nvCxnSpPr>
          <p:cNvPr id="90" name=""/>
          <p:cNvCxnSpPr>
            <a:stCxn xmlns:a="http://schemas.openxmlformats.org/drawingml/2006/main" id="23" idx="1"/>
            <a:endCxn xmlns:a="http://schemas.openxmlformats.org/drawingml/2006/main" id="27" idx="3"/>
          </p:cNvCxnSpPr>
          <p:nvPr/>
        </p:nvCxnSpPr>
        <p:spPr>
          <a:xfrm xmlns:a="http://schemas.openxmlformats.org/drawingml/2006/main" flipH="1">
            <a:off x="8382000" y="4695825"/>
            <a:ext cx="4572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94C63"/>
            </a:solidFill>
            <a:prstDash val="solid"/>
            <a:headEnd type="triangle" w="sm" len="sm"/>
          </a:ln>
        </p:spPr>
      </p:cxnSp>
      <p:cxnSp>
        <p:nvCxnSpPr>
          <p:cNvPr id="91" name=""/>
          <p:cNvCxnSpPr>
            <a:stCxn xmlns:a="http://schemas.openxmlformats.org/drawingml/2006/main" id="27" idx="1"/>
            <a:endCxn xmlns:a="http://schemas.openxmlformats.org/drawingml/2006/main" id="31" idx="3"/>
          </p:cNvCxnSpPr>
          <p:nvPr/>
        </p:nvCxnSpPr>
        <p:spPr>
          <a:xfrm xmlns:a="http://schemas.openxmlformats.org/drawingml/2006/main" flipH="1">
            <a:off x="5638800" y="4695825"/>
            <a:ext cx="4572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94C63"/>
            </a:solidFill>
            <a:prstDash val="solid"/>
            <a:headEnd type="triangle" w="sm" len="sm"/>
          </a:ln>
        </p:spPr>
      </p:cxnSp>
      <p:cxnSp>
        <p:nvCxnSpPr>
          <p:cNvPr id="92" name=""/>
          <p:cNvCxnSpPr>
            <a:stCxn xmlns:a="http://schemas.openxmlformats.org/drawingml/2006/main" id="31" idx="1"/>
            <a:endCxn xmlns:a="http://schemas.openxmlformats.org/drawingml/2006/main" id="35" idx="3"/>
          </p:cNvCxnSpPr>
          <p:nvPr/>
        </p:nvCxnSpPr>
        <p:spPr>
          <a:xfrm xmlns:a="http://schemas.openxmlformats.org/drawingml/2006/main" flipH="1">
            <a:off x="2895600" y="4695825"/>
            <a:ext cx="4572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94C63"/>
            </a:solidFill>
            <a:prstDash val="solid"/>
            <a:headEnd type="triangle" w="sm" len="sm"/>
          </a:ln>
        </p:spPr>
      </p:cxn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44A041E0-4072-4B3B-8912-87A2680B67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01175" y="3381375"/>
            <a:ext cx="1143000" cy="3048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3B261D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F8A4C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FF8A4C"/>
                </a:solidFill>
                <a:latin typeface="Arial"/>
                <a:ea typeface="Arial"/>
                <a:cs typeface="Arial"/>
              </a:rPr>
              <a:t>BLOCK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A1FFD130-8B94-45F6-AF03-D3C0AD5969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95875" y="3476625"/>
            <a:ext cx="209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AFC3D4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AFC3D4"/>
                </a:solidFill>
                <a:latin typeface="Arial"/>
                <a:ea typeface="Arial"/>
                <a:cs typeface="Arial"/>
              </a:rPr>
              <a:t>continue only when clear</a:t>
            </a:r>
          </a:p>
        </p:txBody>
      </p:sp>
    </p:spTree>
    <p:extLst>
      <p:ext uri="{BB962C8B-B14F-4D97-AF65-F5344CB8AC3E}">
        <p14:creationId xmlns:p14="http://schemas.microsoft.com/office/powerpoint/2010/main" val="117479140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07142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FAA7017E-DCAD-4193-8BA0-48D4A9F128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960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94C63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223749B-F229-46BB-B439-618C15C629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476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AFC3D4"/>
                </a:solidFill>
                <a:latin typeface="Arial"/>
                <a:ea typeface="Arial"/>
                <a:cs typeface="Arial"/>
              </a:defRPr>
            </a:pPr>
            <a:r>
              <a:rPr sz="750" b="0">
                <a:solidFill>
                  <a:srgbClr val="AFC3D4"/>
                </a:solidFill>
                <a:latin typeface="Arial"/>
                <a:ea typeface="Arial"/>
                <a:cs typeface="Arial"/>
              </a:rPr>
              <a:t>STRAWHATS  •  TECH STACK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646CC54-0322-4B0A-823A-BA95DBE454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534150"/>
            <a:ext cx="6286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750" b="1">
                <a:solidFill>
                  <a:srgbClr val="F4B942"/>
                </a:solidFill>
                <a:latin typeface="Arial"/>
                <a:ea typeface="Arial"/>
                <a:cs typeface="Arial"/>
              </a:defRPr>
            </a:pPr>
            <a:r>
              <a:rPr sz="750" b="1">
                <a:solidFill>
                  <a:srgbClr val="F4B942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C99B5C4-4FD2-46A4-BE89-C963E2B8E0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495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F4B942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F4B942"/>
                </a:solidFill>
                <a:latin typeface="Arial"/>
                <a:ea typeface="Arial"/>
                <a:cs typeface="Arial"/>
              </a:rPr>
              <a:t>04 · BUILD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F058C38-B4B0-409F-8657-AFC7DB63E5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8175"/>
            <a:ext cx="10763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F8FAFC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F8FAFC"/>
                </a:solidFill>
                <a:latin typeface="Arial"/>
                <a:ea typeface="Arial"/>
                <a:cs typeface="Arial"/>
              </a:rPr>
              <a:t>Android-native, local-first, zero paid API cost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07F6EC9-BD09-4271-A1BB-BB82BB8E1E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219200"/>
            <a:ext cx="10668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AFC3D4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AFC3D4"/>
                </a:solidFill>
                <a:latin typeface="Arial"/>
                <a:ea typeface="Arial"/>
                <a:cs typeface="Arial"/>
              </a:rPr>
              <a:t>The prototype uses platform speech and accessibility services; matching, quantity parsing and safety policy stay deterministic.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23B6F20-DEA9-439E-85AD-5A96B77B1F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81200"/>
            <a:ext cx="2400300" cy="3143250"/>
          </a:xfrm>
          <a:prstGeom xmlns:a="http://schemas.openxmlformats.org/drawingml/2006/main" prst="roundRect">
            <a:avLst>
              <a:gd name="adj" fmla="val 8730"/>
            </a:avLst>
          </a:prstGeom>
          <a:solidFill xmlns:a="http://schemas.openxmlformats.org/drawingml/2006/main">
            <a:srgbClr val="132F44"/>
          </a:solidFill>
          <a:ln xmlns:a="http://schemas.openxmlformats.org/drawingml/2006/main" w="9525">
            <a:solidFill>
              <a:srgbClr val="F4B942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0E2B1B5-434F-48E8-BAF9-1E4C1A732A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171700"/>
            <a:ext cx="952500" cy="3048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4B942"/>
          </a:solidFill>
          <a:ln xmlns:a="http://schemas.openxmlformats.org/drawingml/2006/main" w="9525">
            <a:solidFill>
              <a:srgbClr val="F4B942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D7341CC-8C8E-4FFB-A28D-5CE2CFFBA1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190750"/>
            <a:ext cx="762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071421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071421"/>
                </a:solidFill>
                <a:latin typeface="Arial"/>
                <a:ea typeface="Arial"/>
                <a:cs typeface="Arial"/>
              </a:rPr>
              <a:t>APP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CA89D55-3BC5-47CE-82DB-FB09CFF8F5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724150"/>
            <a:ext cx="19431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F8FAFC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F8FAFC"/>
                </a:solidFill>
                <a:latin typeface="Arial"/>
                <a:ea typeface="Arial"/>
                <a:cs typeface="Arial"/>
              </a:rPr>
              <a:t>Kotlin 2.0.21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B5A344A-284D-4B88-BB64-68798DFD58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124200"/>
            <a:ext cx="19431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94C63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00BE39A-D0FC-4BFC-8D8D-3F3CB71FE1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219450"/>
            <a:ext cx="19431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AFC3D4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AFC3D4"/>
                </a:solidFill>
                <a:latin typeface="Arial"/>
                <a:ea typeface="Arial"/>
                <a:cs typeface="Arial"/>
              </a:rPr>
              <a:t>Android SDK 36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40E859F-EE1D-458C-960A-86B2A66E03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619500"/>
            <a:ext cx="19431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94C63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9F82614-A63F-432B-9ACF-1C02A8EC60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714750"/>
            <a:ext cx="19431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AFC3D4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AFC3D4"/>
                </a:solidFill>
                <a:latin typeface="Arial"/>
                <a:ea typeface="Arial"/>
                <a:cs typeface="Arial"/>
              </a:rPr>
              <a:t>Min SDK 26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9EEADE8-7413-4E7B-B868-B99C48AF54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114800"/>
            <a:ext cx="19431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94C63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C653092-60B2-417C-A9C7-AC93872808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210050"/>
            <a:ext cx="19431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AFC3D4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AFC3D4"/>
                </a:solidFill>
                <a:latin typeface="Arial"/>
                <a:ea typeface="Arial"/>
                <a:cs typeface="Arial"/>
              </a:rPr>
              <a:t>Single app module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B8CC9A2-8AF3-4B40-BCBF-5FF927C216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2800" y="1981200"/>
            <a:ext cx="2400300" cy="3143250"/>
          </a:xfrm>
          <a:prstGeom xmlns:a="http://schemas.openxmlformats.org/drawingml/2006/main" prst="roundRect">
            <a:avLst>
              <a:gd name="adj" fmla="val 8730"/>
            </a:avLst>
          </a:prstGeom>
          <a:solidFill xmlns:a="http://schemas.openxmlformats.org/drawingml/2006/main">
            <a:srgbClr val="132F44"/>
          </a:solidFill>
          <a:ln xmlns:a="http://schemas.openxmlformats.org/drawingml/2006/main" w="9525">
            <a:solidFill>
              <a:srgbClr val="61A8FF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0F9FE9E-B12F-4ACD-8CE6-767C32AD64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2171700"/>
            <a:ext cx="952500" cy="3048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61A8FF"/>
          </a:solidFill>
          <a:ln xmlns:a="http://schemas.openxmlformats.org/drawingml/2006/main" w="9525">
            <a:solidFill>
              <a:srgbClr val="61A8FF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81F9485-F308-477B-96F9-22F52EBBD9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2190750"/>
            <a:ext cx="762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071421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071421"/>
                </a:solidFill>
                <a:latin typeface="Arial"/>
                <a:ea typeface="Arial"/>
                <a:cs typeface="Arial"/>
              </a:rPr>
              <a:t>PLATFORM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A868F2E-3A61-4E7B-940A-99BAED4CC1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1400" y="2724150"/>
            <a:ext cx="19431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F8FAFC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F8FAFC"/>
                </a:solidFill>
                <a:latin typeface="Arial"/>
                <a:ea typeface="Arial"/>
                <a:cs typeface="Arial"/>
              </a:rPr>
              <a:t>AccessibilityService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44CB95E-93F3-4D03-8ACC-83BC0BBCED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1400" y="3124200"/>
            <a:ext cx="19431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94C63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B1A23AA-F1C0-450C-B2EA-F395256C1A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1400" y="3219450"/>
            <a:ext cx="19431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AFC3D4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AFC3D4"/>
                </a:solidFill>
                <a:latin typeface="Arial"/>
                <a:ea typeface="Arial"/>
                <a:cs typeface="Arial"/>
              </a:rPr>
              <a:t>SpeechRecognizer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F4B1CC4-A06A-47F2-9DDD-ACBE814703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1400" y="3619500"/>
            <a:ext cx="19431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94C63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273A44C-CC14-4ACB-B4E9-E466B1D8AF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1400" y="3714750"/>
            <a:ext cx="19431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AFC3D4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AFC3D4"/>
                </a:solidFill>
                <a:latin typeface="Arial"/>
                <a:ea typeface="Arial"/>
                <a:cs typeface="Arial"/>
              </a:rPr>
              <a:t>Text-to-Speech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666B03D-FB7D-4F77-82E5-6AEC8A6629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1400" y="4114800"/>
            <a:ext cx="19431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94C63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9D828981-A231-42B4-A790-B7A75A0E70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1400" y="4210050"/>
            <a:ext cx="19431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AFC3D4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AFC3D4"/>
                </a:solidFill>
                <a:latin typeface="Arial"/>
                <a:ea typeface="Arial"/>
                <a:cs typeface="Arial"/>
              </a:rPr>
              <a:t>Foreground overlay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1D95542F-CC83-4F43-9AF9-195E44F463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981200"/>
            <a:ext cx="2400300" cy="3143250"/>
          </a:xfrm>
          <a:prstGeom xmlns:a="http://schemas.openxmlformats.org/drawingml/2006/main" prst="roundRect">
            <a:avLst>
              <a:gd name="adj" fmla="val 8730"/>
            </a:avLst>
          </a:prstGeom>
          <a:solidFill xmlns:a="http://schemas.openxmlformats.org/drawingml/2006/main">
            <a:srgbClr val="132F44"/>
          </a:solidFill>
          <a:ln xmlns:a="http://schemas.openxmlformats.org/drawingml/2006/main" w="9525">
            <a:solidFill>
              <a:srgbClr val="2DD4BF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08954865-3028-4DF9-8DFD-CADBBE70E1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171700"/>
            <a:ext cx="952500" cy="3048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DD4BF"/>
          </a:solidFill>
          <a:ln xmlns:a="http://schemas.openxmlformats.org/drawingml/2006/main" w="9525">
            <a:solidFill>
              <a:srgbClr val="2DD4BF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98CCFF25-4725-4A2C-BB16-FA3C67C1E9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2190750"/>
            <a:ext cx="762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071421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071421"/>
                </a:solidFill>
                <a:latin typeface="Arial"/>
                <a:ea typeface="Arial"/>
                <a:cs typeface="Arial"/>
              </a:rPr>
              <a:t>DATA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92640AE9-A12D-45A1-B3B7-9AF8875B94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2724150"/>
            <a:ext cx="19431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F8FAFC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F8FAFC"/>
                </a:solidFill>
                <a:latin typeface="Arial"/>
                <a:ea typeface="Arial"/>
                <a:cs typeface="Arial"/>
              </a:rPr>
              <a:t>Room 2.7.2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4DD5096A-635A-443C-A1F6-E77D7E2CDA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3124200"/>
            <a:ext cx="19431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94C63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A0A9ED57-4124-416E-9197-17A7C14EF9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3219450"/>
            <a:ext cx="19431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AFC3D4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AFC3D4"/>
                </a:solidFill>
                <a:latin typeface="Arial"/>
                <a:ea typeface="Arial"/>
                <a:cs typeface="Arial"/>
              </a:rPr>
              <a:t>Private local storage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2C65DC02-F8D1-4633-A69C-9116431113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3619500"/>
            <a:ext cx="19431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94C63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431DD721-9E9F-4BDB-8241-A608C6077F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3714750"/>
            <a:ext cx="19431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AFC3D4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AFC3D4"/>
                </a:solidFill>
                <a:latin typeface="Arial"/>
                <a:ea typeface="Arial"/>
                <a:cs typeface="Arial"/>
              </a:rPr>
              <a:t>Schema migrations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5F365753-9E98-424D-9EFD-2BBA9FB4C5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4114800"/>
            <a:ext cx="19431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94C63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A18B1D4A-16B0-4C5E-A06A-3D492BF9EE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4210050"/>
            <a:ext cx="19431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AFC3D4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AFC3D4"/>
                </a:solidFill>
                <a:latin typeface="Arial"/>
                <a:ea typeface="Arial"/>
                <a:cs typeface="Arial"/>
              </a:rPr>
              <a:t>No cloud database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D8ED05F7-CAE9-4FE8-91BA-8EBEE305F0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1981200"/>
            <a:ext cx="2400300" cy="3143250"/>
          </a:xfrm>
          <a:prstGeom xmlns:a="http://schemas.openxmlformats.org/drawingml/2006/main" prst="roundRect">
            <a:avLst>
              <a:gd name="adj" fmla="val 8730"/>
            </a:avLst>
          </a:prstGeom>
          <a:solidFill xmlns:a="http://schemas.openxmlformats.org/drawingml/2006/main">
            <a:srgbClr val="132F44"/>
          </a:solidFill>
          <a:ln xmlns:a="http://schemas.openxmlformats.org/drawingml/2006/main" w="9525">
            <a:solidFill>
              <a:srgbClr val="55D68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C2E91417-FB58-47D5-8B4C-F56F330249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2171700"/>
            <a:ext cx="952500" cy="3048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55D68B"/>
          </a:solidFill>
          <a:ln xmlns:a="http://schemas.openxmlformats.org/drawingml/2006/main" w="9525">
            <a:solidFill>
              <a:srgbClr val="55D68B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78BF4052-915A-484D-872B-5D1A92E155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2190750"/>
            <a:ext cx="762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071421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071421"/>
                </a:solidFill>
                <a:latin typeface="Arial"/>
                <a:ea typeface="Arial"/>
                <a:cs typeface="Arial"/>
              </a:rPr>
              <a:t>TOOLING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9802757B-7553-4B09-BECF-BBA36CDEE0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2724150"/>
            <a:ext cx="19431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F8FAFC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F8FAFC"/>
                </a:solidFill>
                <a:latin typeface="Arial"/>
                <a:ea typeface="Arial"/>
                <a:cs typeface="Arial"/>
              </a:rPr>
              <a:t>Gradle 8.13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C7CFCCE5-2EA1-4C4C-A261-4D21042F50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3124200"/>
            <a:ext cx="19431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94C63"/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38175C9D-BBD3-4FD8-AEA6-20757568A5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3219450"/>
            <a:ext cx="19431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AFC3D4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AFC3D4"/>
                </a:solidFill>
                <a:latin typeface="Arial"/>
                <a:ea typeface="Arial"/>
                <a:cs typeface="Arial"/>
              </a:rPr>
              <a:t>AGP 8.11.1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A75949A8-CA4F-448B-83CE-D9BAA3BE89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3619500"/>
            <a:ext cx="19431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94C63"/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33EBC5C8-9696-407F-A06C-AAAE209DFB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3714750"/>
            <a:ext cx="19431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AFC3D4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AFC3D4"/>
                </a:solidFill>
                <a:latin typeface="Arial"/>
                <a:ea typeface="Arial"/>
                <a:cs typeface="Arial"/>
              </a:rPr>
              <a:t>JDK 17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3935295A-E77C-48A0-A268-771C7B9C2F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4114800"/>
            <a:ext cx="19431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94C63"/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DA632F97-462A-4C5A-985E-2DE1AE15F8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4210050"/>
            <a:ext cx="19431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AFC3D4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AFC3D4"/>
                </a:solidFill>
                <a:latin typeface="Arial"/>
                <a:ea typeface="Arial"/>
                <a:cs typeface="Arial"/>
              </a:rPr>
              <a:t>Android Studio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27AA0A57-A5C7-4692-848F-56081B68DF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429250"/>
            <a:ext cx="10744200" cy="628650"/>
          </a:xfrm>
          <a:prstGeom xmlns:a="http://schemas.openxmlformats.org/drawingml/2006/main" prst="roundRect">
            <a:avLst>
              <a:gd name="adj" fmla="val 27273"/>
            </a:avLst>
          </a:prstGeom>
          <a:solidFill xmlns:a="http://schemas.openxmlformats.org/drawingml/2006/main">
            <a:srgbClr val="102B3F"/>
          </a:solidFill>
          <a:ln xmlns:a="http://schemas.openxmlformats.org/drawingml/2006/main" w="9525">
            <a:solidFill>
              <a:srgbClr val="294C63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6B89FF83-DA6C-4204-969F-D9FB5B7C06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543550"/>
            <a:ext cx="17621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4B942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F4B942"/>
                </a:solidFill>
                <a:latin typeface="Arial"/>
                <a:ea typeface="Arial"/>
                <a:cs typeface="Arial"/>
              </a:rPr>
              <a:t>₹0 API budget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CB16E684-4079-4447-80F5-701FB8C42A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14625" y="5543550"/>
            <a:ext cx="8286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F8FAFC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F8FAFC"/>
                </a:solidFill>
                <a:latin typeface="Arial"/>
                <a:ea typeface="Arial"/>
                <a:cs typeface="Arial"/>
              </a:rPr>
              <a:t>No API key · No paid LLM · No target-app SDK · Runtime actions stay on-device</a:t>
            </a:r>
          </a:p>
        </p:txBody>
      </p:sp>
    </p:spTree>
    <p:extLst>
      <p:ext uri="{BB962C8B-B14F-4D97-AF65-F5344CB8AC3E}">
        <p14:creationId xmlns:p14="http://schemas.microsoft.com/office/powerpoint/2010/main" val="1656478438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07142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77370A05-68D5-494D-811C-4BC8564C99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960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94C63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14089FD-A849-43DD-A7A8-83F6481001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476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AFC3D4"/>
                </a:solidFill>
                <a:latin typeface="Arial"/>
                <a:ea typeface="Arial"/>
                <a:cs typeface="Arial"/>
              </a:defRPr>
            </a:pPr>
            <a:r>
              <a:rPr sz="750" b="0">
                <a:solidFill>
                  <a:srgbClr val="AFC3D4"/>
                </a:solidFill>
                <a:latin typeface="Arial"/>
                <a:ea typeface="Arial"/>
                <a:cs typeface="Arial"/>
              </a:rPr>
              <a:t>STRAWHATS  •  SAFETY BY DESIGN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646CC03-E62E-4345-BE58-B67B0FFBD2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534150"/>
            <a:ext cx="6286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750" b="1">
                <a:solidFill>
                  <a:srgbClr val="F4B942"/>
                </a:solidFill>
                <a:latin typeface="Arial"/>
                <a:ea typeface="Arial"/>
                <a:cs typeface="Arial"/>
              </a:defRPr>
            </a:pPr>
            <a:r>
              <a:rPr sz="750" b="1">
                <a:solidFill>
                  <a:srgbClr val="F4B942"/>
                </a:solidFill>
                <a:latin typeface="Arial"/>
                <a:ea typeface="Arial"/>
                <a:cs typeface="Arial"/>
              </a:rPr>
              <a:t>06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EF66D0C-7A48-4B1E-946D-91668DBD46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495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F4B942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F4B942"/>
                </a:solidFill>
                <a:latin typeface="Arial"/>
                <a:ea typeface="Arial"/>
                <a:cs typeface="Arial"/>
              </a:rPr>
              <a:t>05 · TRUST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404FD43-1E15-4CB6-A6CD-458B9AE3AB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8175"/>
            <a:ext cx="10763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F8FAFC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F8FAFC"/>
                </a:solidFill>
                <a:latin typeface="Arial"/>
                <a:ea typeface="Arial"/>
                <a:cs typeface="Arial"/>
              </a:rPr>
              <a:t>Fail closed before credentials, payment or uncertainty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85C0016-7F70-4933-A800-78EF36850E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219200"/>
            <a:ext cx="10668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AFC3D4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AFC3D4"/>
                </a:solidFill>
                <a:latin typeface="Arial"/>
                <a:ea typeface="Arial"/>
                <a:cs typeface="Arial"/>
              </a:rPr>
              <a:t>A manual stop latches the system; unreadable trees and sensitive markers block replay.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79BDCFD-037D-4298-8B87-200C3C8D05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47850"/>
            <a:ext cx="3390900" cy="4095750"/>
          </a:xfrm>
          <a:prstGeom xmlns:a="http://schemas.openxmlformats.org/drawingml/2006/main" prst="roundRect">
            <a:avLst>
              <a:gd name="adj" fmla="val 6742"/>
            </a:avLst>
          </a:prstGeom>
          <a:solidFill xmlns:a="http://schemas.openxmlformats.org/drawingml/2006/main">
            <a:srgbClr val="132F44"/>
          </a:solidFill>
          <a:ln xmlns:a="http://schemas.openxmlformats.org/drawingml/2006/main" w="9525">
            <a:solidFill>
              <a:srgbClr val="FF8A4C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7FF589C-3D28-495F-803A-96F9252331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076450"/>
            <a:ext cx="1905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FF8A4C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FF8A4C"/>
                </a:solidFill>
                <a:latin typeface="Arial"/>
                <a:ea typeface="Arial"/>
                <a:cs typeface="Arial"/>
              </a:rPr>
              <a:t>SAFETY GATES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A72F168-E698-4F60-8E93-3D7739864D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543175"/>
            <a:ext cx="3238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F4B942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F4B942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17D4250-C724-427E-9E49-B62D40C0EC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2505075"/>
            <a:ext cx="2381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F8FAFC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F8FAFC"/>
                </a:solidFill>
                <a:latin typeface="Arial"/>
                <a:ea typeface="Arial"/>
                <a:cs typeface="Arial"/>
              </a:rPr>
              <a:t>Target app + readable tree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521ABF8-B377-4A1D-B868-5883775772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038475"/>
            <a:ext cx="3238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F4B942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F4B942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4244225-3872-4137-9673-A412E4D6E3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3000375"/>
            <a:ext cx="2381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F8FAFC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F8FAFC"/>
                </a:solidFill>
                <a:latin typeface="Arial"/>
                <a:ea typeface="Arial"/>
                <a:cs typeface="Arial"/>
              </a:rPr>
              <a:t>No login / password / OTP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D040145-82F6-45FD-8C7D-4A65774A68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533775"/>
            <a:ext cx="3238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F4B942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F4B942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246D36E-09EA-4C24-9C90-EBC2FFCDAF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3495675"/>
            <a:ext cx="2381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FF8A4C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FF8A4C"/>
                </a:solidFill>
                <a:latin typeface="Arial"/>
                <a:ea typeface="Arial"/>
                <a:cs typeface="Arial"/>
              </a:rPr>
              <a:t>No payment screen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63F2142-D396-42DB-89BB-507EFA7C86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029075"/>
            <a:ext cx="3238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F4B942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F4B942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C588F24-5800-4F19-A9F7-2D840C0059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3990975"/>
            <a:ext cx="2381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F8FAFC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F8FAFC"/>
                </a:solidFill>
                <a:latin typeface="Arial"/>
                <a:ea typeface="Arial"/>
                <a:cs typeface="Arial"/>
              </a:rPr>
              <a:t>Unique selector match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8632FE1-F164-42AC-94A1-9973B1DCEE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524375"/>
            <a:ext cx="3238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F4B942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F4B942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EC8AF96-B2C6-43CC-A1A5-2E9D725BC2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4486275"/>
            <a:ext cx="2381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F8FAFC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F8FAFC"/>
                </a:solidFill>
                <a:latin typeface="Arial"/>
                <a:ea typeface="Arial"/>
                <a:cs typeface="Arial"/>
              </a:rPr>
              <a:t>Fresh check before every action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778D882-2A0C-4B8F-95BE-DFE76F026E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019675"/>
            <a:ext cx="3238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F4B942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F4B942"/>
                </a:solidFill>
                <a:latin typeface="Arial"/>
                <a:ea typeface="Arial"/>
                <a:cs typeface="Arial"/>
              </a:rPr>
              <a:t>06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FA9A132-FB95-4596-84A7-EEC4163973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4981575"/>
            <a:ext cx="2381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F8FAFC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F8FAFC"/>
                </a:solidFill>
                <a:latin typeface="Arial"/>
                <a:ea typeface="Arial"/>
                <a:cs typeface="Arial"/>
              </a:rPr>
              <a:t>Structural change after action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00824CD-3FFD-423E-A0F2-EFA0A1A88A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1847850"/>
            <a:ext cx="3314700" cy="4095750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2E1D14"/>
          </a:solidFill>
          <a:ln xmlns:a="http://schemas.openxmlformats.org/drawingml/2006/main" w="9525">
            <a:solidFill>
              <a:srgbClr val="FF8A4C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pic>
        <p:nvPicPr>
          <p:cNvPr id="5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17d47f340954237"/>
          <a:srcRect xmlns:a="http://schemas.openxmlformats.org/drawingml/2006/main" l="0" t="21055" r="0" b="2105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514850" y="2038350"/>
            <a:ext cx="2895600" cy="3714750"/>
          </a:xfrm>
          <a:prstGeom xmlns:a="http://schemas.openxmlformats.org/drawingml/2006/main" prst="roundRect">
            <a:avLst>
              <a:gd name="adj" fmla="val 5263"/>
            </a:avLst>
          </a:prstGeom>
        </p:spPr>
      </p:pic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0086480-6691-4432-9233-D70EF6131E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1847850"/>
            <a:ext cx="3429000" cy="409575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2E1D14"/>
          </a:solidFill>
          <a:ln xmlns:a="http://schemas.openxmlformats.org/drawingml/2006/main" w="9525">
            <a:solidFill>
              <a:srgbClr val="FF8A4C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pic>
        <p:nvPicPr>
          <p:cNvPr id="5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265d8e23b7d4564"/>
          <a:srcRect xmlns:a="http://schemas.openxmlformats.org/drawingml/2006/main" l="20885" t="0" r="20885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134350" y="2038350"/>
            <a:ext cx="3009900" cy="2000250"/>
          </a:xfrm>
          <a:prstGeom xmlns:a="http://schemas.openxmlformats.org/drawingml/2006/main" prst="roundRect">
            <a:avLst>
              <a:gd name="adj" fmla="val 7619"/>
            </a:avLst>
          </a:prstGeom>
        </p:spPr>
      </p:pic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CFB661A-4806-4D1E-811A-213225D6C2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4229100"/>
            <a:ext cx="26289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8FAFC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F8FAFC"/>
                </a:solidFill>
                <a:latin typeface="Arial"/>
                <a:ea typeface="Arial"/>
                <a:cs typeface="Arial"/>
              </a:rPr>
              <a:t>Manual Stop stays orange and blocks the matched flow until a fresh safe-screen Recheck.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DDEB4F41-8575-4418-81BA-C28D059389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5448300"/>
            <a:ext cx="2400300" cy="3048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8A4C"/>
          </a:solidFill>
          <a:ln xmlns:a="http://schemas.openxmlformats.org/drawingml/2006/main" w="9525">
            <a:solidFill>
              <a:srgbClr val="FF8A4C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4CFE5BED-11E3-4279-8AFD-49644374CE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5467350"/>
            <a:ext cx="2209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071421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071421"/>
                </a:solidFill>
                <a:latin typeface="Arial"/>
                <a:ea typeface="Arial"/>
                <a:cs typeface="Arial"/>
              </a:rPr>
              <a:t>PAYMENT → HUMAN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6D1AB54B-C98A-40CD-B22F-329006FBAE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5448300"/>
            <a:ext cx="2362200" cy="3048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8A4C"/>
          </a:solidFill>
          <a:ln xmlns:a="http://schemas.openxmlformats.org/drawingml/2006/main" w="9525">
            <a:solidFill>
              <a:srgbClr val="FF8A4C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2122981A-306F-4785-AC14-03CF8280B7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3450" y="5467350"/>
            <a:ext cx="2171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071421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071421"/>
                </a:solidFill>
                <a:latin typeface="Arial"/>
                <a:ea typeface="Arial"/>
                <a:cs typeface="Arial"/>
              </a:rPr>
              <a:t>STOP → LATCHED</a:t>
            </a:r>
          </a:p>
        </p:txBody>
      </p:sp>
    </p:spTree>
    <p:extLst>
      <p:ext uri="{BB962C8B-B14F-4D97-AF65-F5344CB8AC3E}">
        <p14:creationId xmlns:p14="http://schemas.microsoft.com/office/powerpoint/2010/main" val="1167179071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07142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FBFC730D-7E07-42F8-9F1F-CF4D7B9F6F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960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94C63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1289154-6D16-4C18-9556-D25A73A829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476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AFC3D4"/>
                </a:solidFill>
                <a:latin typeface="Arial"/>
                <a:ea typeface="Arial"/>
                <a:cs typeface="Arial"/>
              </a:defRPr>
            </a:pPr>
            <a:r>
              <a:rPr sz="750" b="0">
                <a:solidFill>
                  <a:srgbClr val="AFC3D4"/>
                </a:solidFill>
                <a:latin typeface="Arial"/>
                <a:ea typeface="Arial"/>
                <a:cs typeface="Arial"/>
              </a:rPr>
              <a:t>STRAWHATS  •  VOICE EXPERIENCE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E6C7633-DE66-49D5-AEA6-95511678B9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534150"/>
            <a:ext cx="6286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750" b="1">
                <a:solidFill>
                  <a:srgbClr val="F4B942"/>
                </a:solidFill>
                <a:latin typeface="Arial"/>
                <a:ea typeface="Arial"/>
                <a:cs typeface="Arial"/>
              </a:defRPr>
            </a:pPr>
            <a:r>
              <a:rPr sz="750" b="1">
                <a:solidFill>
                  <a:srgbClr val="F4B942"/>
                </a:solidFill>
                <a:latin typeface="Arial"/>
                <a:ea typeface="Arial"/>
                <a:cs typeface="Arial"/>
              </a:rPr>
              <a:t>07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6C10F68-E68F-4218-B5A3-532DF47206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495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F4B942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F4B942"/>
                </a:solidFill>
                <a:latin typeface="Arial"/>
                <a:ea typeface="Arial"/>
                <a:cs typeface="Arial"/>
              </a:rPr>
              <a:t>06 · LANGUAGE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6DA47EE-F8E9-445D-BF35-659019092A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8175"/>
            <a:ext cx="10763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F8FAFC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F8FAFC"/>
                </a:solidFill>
                <a:latin typeface="Arial"/>
                <a:ea typeface="Arial"/>
                <a:cs typeface="Arial"/>
              </a:rPr>
              <a:t>English and Hinglish quantities from 1 to 5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F49DC6D-FA1F-421D-8073-AB6A8D5A97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219200"/>
            <a:ext cx="10668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AFC3D4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AFC3D4"/>
                </a:solidFill>
                <a:latin typeface="Arial"/>
                <a:ea typeface="Arial"/>
                <a:cs typeface="Arial"/>
              </a:rPr>
              <a:t>A supported number is parsed locally, then replay advances through verified ADD / plus transitions.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153F567-B114-4AD0-9C57-2B6776B340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52625"/>
            <a:ext cx="1295400" cy="3048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73A50"/>
          </a:solidFill>
          <a:ln xmlns:a="http://schemas.openxmlformats.org/drawingml/2006/main" w="9525">
            <a:solidFill>
              <a:srgbClr val="173A50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F165247-37FC-420E-8CD1-7E140E5A0E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971675"/>
            <a:ext cx="1104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FD978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FFD978"/>
                </a:solidFill>
                <a:latin typeface="Arial"/>
                <a:ea typeface="Arial"/>
                <a:cs typeface="Arial"/>
              </a:rPr>
              <a:t>ONE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46ABDA6-1A8E-4A60-86DC-6EFC971372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52650" y="1914525"/>
            <a:ext cx="4953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8FAFC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F8FAFC"/>
                </a:solidFill>
                <a:latin typeface="Arial"/>
                <a:ea typeface="Arial"/>
                <a:cs typeface="Arial"/>
              </a:rPr>
              <a:t>“choco chip brownie safe”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771584E-3559-44B2-88F2-9B38910CF8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1914525"/>
            <a:ext cx="11049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AFC3D4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AFC3D4"/>
                </a:solidFill>
                <a:latin typeface="Arial"/>
                <a:ea typeface="Arial"/>
                <a:cs typeface="Arial"/>
              </a:rPr>
              <a:t>TARGET 1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F6AB81B-32B3-4842-9269-6B918E3DA1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52650" y="2524125"/>
            <a:ext cx="4953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94C63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CE18ACB-512F-4EAD-BD68-EB63C9D2D7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28925"/>
            <a:ext cx="1295400" cy="3048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DD4BF"/>
          </a:solidFill>
          <a:ln xmlns:a="http://schemas.openxmlformats.org/drawingml/2006/main" w="9525">
            <a:solidFill>
              <a:srgbClr val="2DD4BF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F277D0A-0E5A-4A24-9843-32B7444C62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847975"/>
            <a:ext cx="1104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071421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071421"/>
                </a:solidFill>
                <a:latin typeface="Arial"/>
                <a:ea typeface="Arial"/>
                <a:cs typeface="Arial"/>
              </a:rPr>
              <a:t>TWO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49FBA20-C2AA-4485-860C-9D0951B0AF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52650" y="2790825"/>
            <a:ext cx="4953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8FAFC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F8FAFC"/>
                </a:solidFill>
                <a:latin typeface="Arial"/>
                <a:ea typeface="Arial"/>
                <a:cs typeface="Arial"/>
              </a:rPr>
              <a:t>“do choco chip brownie safe”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8BAC7FD-2C29-4226-B127-6AD78331D3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2790825"/>
            <a:ext cx="11049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AFC3D4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AFC3D4"/>
                </a:solidFill>
                <a:latin typeface="Arial"/>
                <a:ea typeface="Arial"/>
                <a:cs typeface="Arial"/>
              </a:rPr>
              <a:t>TARGET 2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9040F01-E131-4870-AFD7-4B5920BB83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52650" y="3400425"/>
            <a:ext cx="4953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94C63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5B8BAD8-9504-4C92-BDB1-537ED67F6E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705225"/>
            <a:ext cx="1295400" cy="3048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73A50"/>
          </a:solidFill>
          <a:ln xmlns:a="http://schemas.openxmlformats.org/drawingml/2006/main" w="9525">
            <a:solidFill>
              <a:srgbClr val="173A50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DCE0FC1-CB33-4980-9716-1BBBFD1592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724275"/>
            <a:ext cx="1104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FD978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FFD978"/>
                </a:solidFill>
                <a:latin typeface="Arial"/>
                <a:ea typeface="Arial"/>
                <a:cs typeface="Arial"/>
              </a:rPr>
              <a:t>THREE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B34F90E-3FA5-4DC9-9134-2C1165FABC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52650" y="3667125"/>
            <a:ext cx="4953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8FAFC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F8FAFC"/>
                </a:solidFill>
                <a:latin typeface="Arial"/>
                <a:ea typeface="Arial"/>
                <a:cs typeface="Arial"/>
              </a:rPr>
              <a:t>“add three choco chip brownie safe”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1284781-9209-48B0-80A9-5CAB445E57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3667125"/>
            <a:ext cx="11049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AFC3D4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AFC3D4"/>
                </a:solidFill>
                <a:latin typeface="Arial"/>
                <a:ea typeface="Arial"/>
                <a:cs typeface="Arial"/>
              </a:rPr>
              <a:t>TARGET 3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9834FD0-1534-4FFF-939A-20DD812EEB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52650" y="4276725"/>
            <a:ext cx="4953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94C63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E1B1565-3AE1-4369-B560-0F76DBAFAD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81525"/>
            <a:ext cx="1295400" cy="3048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73A50"/>
          </a:solidFill>
          <a:ln xmlns:a="http://schemas.openxmlformats.org/drawingml/2006/main" w="9525">
            <a:solidFill>
              <a:srgbClr val="173A50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AB1B595-5653-4A32-A331-2C3B3B121B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600575"/>
            <a:ext cx="1104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FD978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FFD978"/>
                </a:solidFill>
                <a:latin typeface="Arial"/>
                <a:ea typeface="Arial"/>
                <a:cs typeface="Arial"/>
              </a:rPr>
              <a:t>FOUR / FIVE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CC235CC-2F9A-48E7-8755-EC09F30975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52650" y="4543425"/>
            <a:ext cx="4953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8FAFC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F8FAFC"/>
                </a:solidFill>
                <a:latin typeface="Arial"/>
                <a:ea typeface="Arial"/>
                <a:cs typeface="Arial"/>
              </a:rPr>
              <a:t>“digits or English number words”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264329D-5BA2-4AE6-AB50-6957580563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4543425"/>
            <a:ext cx="11049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AFC3D4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AFC3D4"/>
                </a:solidFill>
                <a:latin typeface="Arial"/>
                <a:ea typeface="Arial"/>
                <a:cs typeface="Arial"/>
              </a:rPr>
              <a:t>TARGET 4–5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C3374F36-A99A-4EB0-A91E-DA54B91CB3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1828800"/>
            <a:ext cx="3829050" cy="4114800"/>
          </a:xfrm>
          <a:prstGeom xmlns:a="http://schemas.openxmlformats.org/drawingml/2006/main" prst="roundRect">
            <a:avLst>
              <a:gd name="adj" fmla="val 6468"/>
            </a:avLst>
          </a:prstGeom>
          <a:solidFill xmlns:a="http://schemas.openxmlformats.org/drawingml/2006/main">
            <a:srgbClr val="132F44"/>
          </a:solidFill>
          <a:ln xmlns:a="http://schemas.openxmlformats.org/drawingml/2006/main" w="9525">
            <a:solidFill>
              <a:srgbClr val="2DD4BF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pic>
        <p:nvPicPr>
          <p:cNvPr id="5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bcde0071c514c1b"/>
          <a:srcRect xmlns:a="http://schemas.openxmlformats.org/drawingml/2006/main" l="10079" t="0" r="10079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753350" y="2057400"/>
            <a:ext cx="3371850" cy="3143250"/>
          </a:xfrm>
          <a:prstGeom xmlns:a="http://schemas.openxmlformats.org/drawingml/2006/main" prst="roundRect">
            <a:avLst>
              <a:gd name="adj" fmla="val 4848"/>
            </a:avLst>
          </a:prstGeom>
        </p:spPr>
      </p:pic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4ED95B32-58AD-4F2D-8659-BAA9DB2473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91450" y="5286375"/>
            <a:ext cx="32766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2DD4BF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2DD4BF"/>
                </a:solidFill>
                <a:latin typeface="Arial"/>
                <a:ea typeface="Arial"/>
                <a:cs typeface="Arial"/>
              </a:rPr>
              <a:t>Verified quantity 3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4186AD45-A6DA-4493-A0D8-D1353A3B2F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5619750"/>
            <a:ext cx="3238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93327"/>
          </a:bodyPr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AFC3D4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AFC3D4"/>
                </a:solidFill>
                <a:latin typeface="Arial"/>
                <a:ea typeface="Arial"/>
                <a:cs typeface="Arial"/>
              </a:rPr>
              <a:t>Out-of-range or conflicting quantities are rejected before replay.</a:t>
            </a:r>
          </a:p>
        </p:txBody>
      </p:sp>
    </p:spTree>
    <p:extLst>
      <p:ext uri="{BB962C8B-B14F-4D97-AF65-F5344CB8AC3E}">
        <p14:creationId xmlns:p14="http://schemas.microsoft.com/office/powerpoint/2010/main" val="558513932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07142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A3D7FD0F-8370-43AB-856C-56A4FA411D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960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94C63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06B4600-7C07-4F4A-A73C-F81C13FD17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476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AFC3D4"/>
                </a:solidFill>
                <a:latin typeface="Arial"/>
                <a:ea typeface="Arial"/>
                <a:cs typeface="Arial"/>
              </a:defRPr>
            </a:pPr>
            <a:r>
              <a:rPr sz="750" b="0">
                <a:solidFill>
                  <a:srgbClr val="AFC3D4"/>
                </a:solidFill>
                <a:latin typeface="Arial"/>
                <a:ea typeface="Arial"/>
                <a:cs typeface="Arial"/>
              </a:rPr>
              <a:t>STRAWHATS  •  VALIDATION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9EB001B-AB70-436C-B7B9-0620E214CB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534150"/>
            <a:ext cx="6286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750" b="1">
                <a:solidFill>
                  <a:srgbClr val="F4B942"/>
                </a:solidFill>
                <a:latin typeface="Arial"/>
                <a:ea typeface="Arial"/>
                <a:cs typeface="Arial"/>
              </a:defRPr>
            </a:pPr>
            <a:r>
              <a:rPr sz="750" b="1">
                <a:solidFill>
                  <a:srgbClr val="F4B942"/>
                </a:solidFill>
                <a:latin typeface="Arial"/>
                <a:ea typeface="Arial"/>
                <a:cs typeface="Arial"/>
              </a:rPr>
              <a:t>08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8166477-FBEE-48FC-A4AA-BD399755E9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495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F4B942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F4B942"/>
                </a:solidFill>
                <a:latin typeface="Arial"/>
                <a:ea typeface="Arial"/>
                <a:cs typeface="Arial"/>
              </a:rPr>
              <a:t>07 · EVIDENCE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3644618-70E3-461A-8400-EF975B3AEF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8175"/>
            <a:ext cx="10763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F8FAFC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F8FAFC"/>
                </a:solidFill>
                <a:latin typeface="Arial"/>
                <a:ea typeface="Arial"/>
                <a:cs typeface="Arial"/>
              </a:rPr>
              <a:t>Measured outcomes from the tested v0.4.0 build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8D0B717-8137-4B7B-89A3-8127D9F1AA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219200"/>
            <a:ext cx="10668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AFC3D4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AFC3D4"/>
                </a:solidFill>
                <a:latin typeface="Arial"/>
                <a:ea typeface="Arial"/>
                <a:cs typeface="Arial"/>
              </a:rPr>
              <a:t>The claims below are tied to emulator or physical-device checks and the repository test suite.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7A8A69A-B905-4FE2-A59B-4C48CBE23E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47850"/>
            <a:ext cx="2381250" cy="1200150"/>
          </a:xfrm>
          <a:prstGeom xmlns:a="http://schemas.openxmlformats.org/drawingml/2006/main" prst="roundRect">
            <a:avLst>
              <a:gd name="adj" fmla="val 15873"/>
            </a:avLst>
          </a:prstGeom>
          <a:solidFill xmlns:a="http://schemas.openxmlformats.org/drawingml/2006/main">
            <a:srgbClr val="132F44"/>
          </a:solidFill>
          <a:ln xmlns:a="http://schemas.openxmlformats.org/drawingml/2006/main" w="9525">
            <a:solidFill>
              <a:srgbClr val="2DD4BF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5082AE5-0A86-48BB-9CC1-560F5D4F17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981200"/>
            <a:ext cx="2000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2DD4BF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2DD4BF"/>
                </a:solidFill>
                <a:latin typeface="Arial"/>
                <a:ea typeface="Arial"/>
                <a:cs typeface="Arial"/>
              </a:rPr>
              <a:t>30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50D1A6A-473F-4EB5-B7D1-1BDCFB74B8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514600"/>
            <a:ext cx="2000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AFC3D4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AFC3D4"/>
                </a:solidFill>
                <a:latin typeface="Arial"/>
                <a:ea typeface="Arial"/>
                <a:cs typeface="Arial"/>
              </a:rPr>
              <a:t>JVM TESTS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0782052-A96C-4C44-BB47-01450CD75D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2800" y="1847850"/>
            <a:ext cx="2381250" cy="1200150"/>
          </a:xfrm>
          <a:prstGeom xmlns:a="http://schemas.openxmlformats.org/drawingml/2006/main" prst="roundRect">
            <a:avLst>
              <a:gd name="adj" fmla="val 15873"/>
            </a:avLst>
          </a:prstGeom>
          <a:solidFill xmlns:a="http://schemas.openxmlformats.org/drawingml/2006/main">
            <a:srgbClr val="132F44"/>
          </a:solidFill>
          <a:ln xmlns:a="http://schemas.openxmlformats.org/drawingml/2006/main" w="9525">
            <a:solidFill>
              <a:srgbClr val="55D68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7CE39F3-3A9F-4E1E-810A-8A922332AE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1981200"/>
            <a:ext cx="2000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55D68B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55D68B"/>
                </a:solidFill>
                <a:latin typeface="Arial"/>
                <a:ea typeface="Arial"/>
                <a:cs typeface="Arial"/>
              </a:rPr>
              <a:t>0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719053F-9421-4E35-A355-7EA4F7E6C2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2514600"/>
            <a:ext cx="2000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AFC3D4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AFC3D4"/>
                </a:solidFill>
                <a:latin typeface="Arial"/>
                <a:ea typeface="Arial"/>
                <a:cs typeface="Arial"/>
              </a:rPr>
              <a:t>TEST FAILURES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DDDF424-6955-47E0-BD0E-BA6D1DD81C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847850"/>
            <a:ext cx="2381250" cy="1200150"/>
          </a:xfrm>
          <a:prstGeom xmlns:a="http://schemas.openxmlformats.org/drawingml/2006/main" prst="roundRect">
            <a:avLst>
              <a:gd name="adj" fmla="val 15873"/>
            </a:avLst>
          </a:prstGeom>
          <a:solidFill xmlns:a="http://schemas.openxmlformats.org/drawingml/2006/main">
            <a:srgbClr val="132F44"/>
          </a:solidFill>
          <a:ln xmlns:a="http://schemas.openxmlformats.org/drawingml/2006/main" w="9525">
            <a:solidFill>
              <a:srgbClr val="F4B942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D52925A-7A08-4A1A-BB7B-A3338EDF43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1981200"/>
            <a:ext cx="2000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F4B942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F4B942"/>
                </a:solidFill>
                <a:latin typeface="Arial"/>
                <a:ea typeface="Arial"/>
                <a:cs typeface="Arial"/>
              </a:rPr>
              <a:t>1–5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38EFA41-8BB0-49AE-B541-D1EEF8443A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514600"/>
            <a:ext cx="2000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AFC3D4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AFC3D4"/>
                </a:solidFill>
                <a:latin typeface="Arial"/>
                <a:ea typeface="Arial"/>
                <a:cs typeface="Arial"/>
              </a:rPr>
              <a:t>QUANTITY RANGE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D9797A5-9629-4477-A88B-B7C5489CCF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1847850"/>
            <a:ext cx="2381250" cy="1200150"/>
          </a:xfrm>
          <a:prstGeom xmlns:a="http://schemas.openxmlformats.org/drawingml/2006/main" prst="roundRect">
            <a:avLst>
              <a:gd name="adj" fmla="val 15873"/>
            </a:avLst>
          </a:prstGeom>
          <a:solidFill xmlns:a="http://schemas.openxmlformats.org/drawingml/2006/main">
            <a:srgbClr val="132F44"/>
          </a:solidFill>
          <a:ln xmlns:a="http://schemas.openxmlformats.org/drawingml/2006/main" w="9525">
            <a:solidFill>
              <a:srgbClr val="61A8FF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DAAF638-EE75-4C70-B560-E8DFA1FE4E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1981200"/>
            <a:ext cx="2000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61A8FF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61A8FF"/>
                </a:solidFill>
                <a:latin typeface="Arial"/>
                <a:ea typeface="Arial"/>
                <a:cs typeface="Arial"/>
              </a:rPr>
              <a:t>16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098E9E3-100B-41EC-A609-5EFE81A29F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2514600"/>
            <a:ext cx="2000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AFC3D4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AFC3D4"/>
                </a:solidFill>
                <a:latin typeface="Arial"/>
                <a:ea typeface="Arial"/>
                <a:cs typeface="Arial"/>
              </a:rPr>
              <a:t>ANDROID VERSION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8354899-B3D1-467B-BD57-43FB5ED6CD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33750"/>
            <a:ext cx="6877050" cy="2628900"/>
          </a:xfrm>
          <a:prstGeom xmlns:a="http://schemas.openxmlformats.org/drawingml/2006/main" prst="roundRect">
            <a:avLst>
              <a:gd name="adj" fmla="val 7971"/>
            </a:avLst>
          </a:prstGeom>
          <a:solidFill xmlns:a="http://schemas.openxmlformats.org/drawingml/2006/main">
            <a:srgbClr val="132F44"/>
          </a:solidFill>
          <a:ln xmlns:a="http://schemas.openxmlformats.org/drawingml/2006/main" w="9525">
            <a:solidFill>
              <a:srgbClr val="294C63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553FD49-CB6B-4686-9CCE-CE1FECBF5E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543300"/>
            <a:ext cx="247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F4B942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F4B942"/>
                </a:solidFill>
                <a:latin typeface="Arial"/>
                <a:ea typeface="Arial"/>
                <a:cs typeface="Arial"/>
              </a:rPr>
              <a:t>LIVE SCENARIOS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0E6D570-4228-4FEE-AD29-C6CC1C1F2C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933825"/>
            <a:ext cx="495300" cy="495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DD4BF"/>
          </a:solidFill>
          <a:ln xmlns:a="http://schemas.openxmlformats.org/drawingml/2006/main" w="0">
            <a:solidFill>
              <a:srgbClr val="2DD4BF"/>
            </a:solidFill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1732204-60BC-4C6D-AE3F-9B4E7CA434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933825"/>
            <a:ext cx="4953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071421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071421"/>
                </a:solidFill>
                <a:latin typeface="Arial"/>
                <a:ea typeface="Arial"/>
                <a:cs typeface="Arial"/>
              </a:rPr>
              <a:t>✓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39FC915-C4D3-4890-9EE2-D9A12261E4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4000500"/>
            <a:ext cx="5619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F8FAFC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F8FAFC"/>
                </a:solidFill>
                <a:latin typeface="Arial"/>
                <a:ea typeface="Arial"/>
                <a:cs typeface="Arial"/>
              </a:rPr>
              <a:t>Correct item · exact command · wrapper paraphrase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39514C2-0A54-43F6-A6E3-7FE8E5DC3D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305300"/>
            <a:ext cx="495300" cy="495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DD4BF"/>
          </a:solidFill>
          <a:ln xmlns:a="http://schemas.openxmlformats.org/drawingml/2006/main" w="0">
            <a:solidFill>
              <a:srgbClr val="2DD4BF"/>
            </a:solidFill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F8A19D0-47E3-4FAD-8CB8-1845F08289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305300"/>
            <a:ext cx="4953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071421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071421"/>
                </a:solidFill>
                <a:latin typeface="Arial"/>
                <a:ea typeface="Arial"/>
                <a:cs typeface="Arial"/>
              </a:rPr>
              <a:t>✓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6333C901-FE20-4E1C-A48D-2412927317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4371975"/>
            <a:ext cx="5619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F8FAFC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F8FAFC"/>
                </a:solidFill>
                <a:latin typeface="Arial"/>
                <a:ea typeface="Arial"/>
                <a:cs typeface="Arial"/>
              </a:rPr>
              <a:t>Unknown command rejected · manual Stop latched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848C522A-49B5-4153-BA25-A9098CF863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676775"/>
            <a:ext cx="495300" cy="495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DD4BF"/>
          </a:solidFill>
          <a:ln xmlns:a="http://schemas.openxmlformats.org/drawingml/2006/main" w="0">
            <a:solidFill>
              <a:srgbClr val="2DD4BF"/>
            </a:solidFill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56B1702A-8471-4003-B942-3C5CC49AB4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676775"/>
            <a:ext cx="4953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071421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071421"/>
                </a:solidFill>
                <a:latin typeface="Arial"/>
                <a:ea typeface="Arial"/>
                <a:cs typeface="Arial"/>
              </a:rPr>
              <a:t>✓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536829FD-2FEC-4E55-A5AE-CB901876B3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4743450"/>
            <a:ext cx="5619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F8FAFC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F8FAFC"/>
                </a:solidFill>
                <a:latin typeface="Arial"/>
                <a:ea typeface="Arial"/>
                <a:cs typeface="Arial"/>
              </a:rPr>
              <a:t>Payment screen blocked · unreadable Swiggy tree blocked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73C47D8A-6509-4A4A-A7A8-CF0963B257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048250"/>
            <a:ext cx="495300" cy="495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DD4BF"/>
          </a:solidFill>
          <a:ln xmlns:a="http://schemas.openxmlformats.org/drawingml/2006/main" w="0">
            <a:solidFill>
              <a:srgbClr val="2DD4BF"/>
            </a:solidFill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DB70A73E-CA3B-4802-9112-4E472EFA1E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048250"/>
            <a:ext cx="4953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071421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071421"/>
                </a:solidFill>
                <a:latin typeface="Arial"/>
                <a:ea typeface="Arial"/>
                <a:cs typeface="Arial"/>
              </a:rPr>
              <a:t>✓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F7BD5C98-FE9F-4744-9763-36499D3604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5114925"/>
            <a:ext cx="5619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F8FAFC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F8FAFC"/>
                </a:solidFill>
                <a:latin typeface="Arial"/>
                <a:ea typeface="Arial"/>
                <a:cs typeface="Arial"/>
              </a:rPr>
              <a:t>Quantity 3 English · quantity 2 Hinglish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B9DFCC8D-17DD-4295-AEE1-D5427EF100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419725"/>
            <a:ext cx="495300" cy="495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DD4BF"/>
          </a:solidFill>
          <a:ln xmlns:a="http://schemas.openxmlformats.org/drawingml/2006/main" w="0">
            <a:solidFill>
              <a:srgbClr val="2DD4BF"/>
            </a:solidFill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B3949C54-87CC-4E8E-A89C-8DCDD85CDC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419725"/>
            <a:ext cx="4953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071421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071421"/>
                </a:solidFill>
                <a:latin typeface="Arial"/>
                <a:ea typeface="Arial"/>
                <a:cs typeface="Arial"/>
              </a:rPr>
              <a:t>✓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E2EA053A-7D9F-469B-8B1C-4C9958E2FD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5486400"/>
            <a:ext cx="5619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F8FAFC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F8FAFC"/>
                </a:solidFill>
                <a:latin typeface="Arial"/>
                <a:ea typeface="Arial"/>
                <a:cs typeface="Arial"/>
              </a:rPr>
              <a:t>Existing cart and quantity 6 refused without action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18EC4AB0-9380-4F96-A352-F026EABE79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91450" y="3333750"/>
            <a:ext cx="3562350" cy="2628900"/>
          </a:xfrm>
          <a:prstGeom xmlns:a="http://schemas.openxmlformats.org/drawingml/2006/main" prst="roundRect">
            <a:avLst>
              <a:gd name="adj" fmla="val 7971"/>
            </a:avLst>
          </a:prstGeom>
          <a:solidFill xmlns:a="http://schemas.openxmlformats.org/drawingml/2006/main">
            <a:srgbClr val="103840"/>
          </a:solidFill>
          <a:ln xmlns:a="http://schemas.openxmlformats.org/drawingml/2006/main" w="9525">
            <a:solidFill>
              <a:srgbClr val="2DD4BF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pic>
        <p:nvPicPr>
          <p:cNvPr id="7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d54e596f93b4faa"/>
          <a:srcRect xmlns:a="http://schemas.openxmlformats.org/drawingml/2006/main" l="0" t="18077" r="0" b="1807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001000" y="3543300"/>
            <a:ext cx="3143250" cy="1619250"/>
          </a:xfrm>
          <a:prstGeom xmlns:a="http://schemas.openxmlformats.org/drawingml/2006/main" prst="roundRect">
            <a:avLst>
              <a:gd name="adj" fmla="val 9412"/>
            </a:avLst>
          </a:prstGeom>
        </p:spPr>
      </p:pic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A13FBA34-C57B-41B7-ADCA-ED0092E284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5286375"/>
            <a:ext cx="31051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2DD4BF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2DD4BF"/>
                </a:solidFill>
                <a:latin typeface="Arial"/>
                <a:ea typeface="Arial"/>
                <a:cs typeface="Arial"/>
              </a:rPr>
              <a:t>Success means the UI changed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22646FA2-FC8C-4C75-BADD-788D465607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5619750"/>
            <a:ext cx="31051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AFC3D4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AFC3D4"/>
                </a:solidFill>
                <a:latin typeface="Arial"/>
                <a:ea typeface="Arial"/>
                <a:cs typeface="Arial"/>
              </a:rPr>
              <a:t>A dispatched click alone never counts.</a:t>
            </a:r>
          </a:p>
        </p:txBody>
      </p:sp>
    </p:spTree>
    <p:extLst>
      <p:ext uri="{BB962C8B-B14F-4D97-AF65-F5344CB8AC3E}">
        <p14:creationId xmlns:p14="http://schemas.microsoft.com/office/powerpoint/2010/main" val="2005226789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07142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5CA78116-A74A-4BCD-AC6C-481DE9D517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960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94C63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8B9BF7A-28EE-4E67-95FF-1056EA830E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476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AFC3D4"/>
                </a:solidFill>
                <a:latin typeface="Arial"/>
                <a:ea typeface="Arial"/>
                <a:cs typeface="Arial"/>
              </a:defRPr>
            </a:pPr>
            <a:r>
              <a:rPr sz="750" b="0">
                <a:solidFill>
                  <a:srgbClr val="AFC3D4"/>
                </a:solidFill>
                <a:latin typeface="Arial"/>
                <a:ea typeface="Arial"/>
                <a:cs typeface="Arial"/>
              </a:rPr>
              <a:t>STRAWHATS  •  LIVE DEMO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5723916-7B06-46BB-A4A0-5A46ADE471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534150"/>
            <a:ext cx="6286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750" b="1">
                <a:solidFill>
                  <a:srgbClr val="F4B942"/>
                </a:solidFill>
                <a:latin typeface="Arial"/>
                <a:ea typeface="Arial"/>
                <a:cs typeface="Arial"/>
              </a:defRPr>
            </a:pPr>
            <a:r>
              <a:rPr sz="750" b="1">
                <a:solidFill>
                  <a:srgbClr val="F4B942"/>
                </a:solidFill>
                <a:latin typeface="Arial"/>
                <a:ea typeface="Arial"/>
                <a:cs typeface="Arial"/>
              </a:rPr>
              <a:t>09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3BBE2B3-40B1-47F2-893B-8AE21B6E40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495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F4B942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F4B942"/>
                </a:solidFill>
                <a:latin typeface="Arial"/>
                <a:ea typeface="Arial"/>
                <a:cs typeface="Arial"/>
              </a:rPr>
              <a:t>08 · DEMO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3204BB0-1C5F-483C-ACA0-C9547ADA4C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8175"/>
            <a:ext cx="10763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F8FAFC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F8FAFC"/>
                </a:solidFill>
                <a:latin typeface="Arial"/>
                <a:ea typeface="Arial"/>
                <a:cs typeface="Arial"/>
              </a:rPr>
              <a:t>A four-minute story judges can follow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88A0F3A-2653-47DF-9655-1D8C6A627F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219200"/>
            <a:ext cx="10668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AFC3D4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AFC3D4"/>
                </a:solidFill>
                <a:latin typeface="Arial"/>
                <a:ea typeface="Arial"/>
                <a:cs typeface="Arial"/>
              </a:rPr>
              <a:t>Begin from a safe Zomato menu and an empty item state. End before payment.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639A800-37E6-4514-AC1C-EA445336D9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2000250"/>
            <a:ext cx="0" cy="36576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294C63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D61F9EC-4783-4241-8830-9F18A15581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2038350"/>
            <a:ext cx="342900" cy="3429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1A8FF"/>
          </a:solidFill>
          <a:ln xmlns:a="http://schemas.openxmlformats.org/drawingml/2006/main" w="47625">
            <a:solidFill>
              <a:srgbClr val="071421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F09240E-5329-4B67-9556-3690150880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62150"/>
            <a:ext cx="666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61A8FF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61A8FF"/>
                </a:solidFill>
                <a:latin typeface="Arial"/>
                <a:ea typeface="Arial"/>
                <a:cs typeface="Arial"/>
              </a:rPr>
              <a:t>0:00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23F70DB-CEB9-457E-8797-4AD6ABDC76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38350" y="1971675"/>
            <a:ext cx="1085850" cy="3048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61A8FF"/>
          </a:solidFill>
          <a:ln xmlns:a="http://schemas.openxmlformats.org/drawingml/2006/main" w="9525">
            <a:solidFill>
              <a:srgbClr val="61A8FF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DFAEFB0-8490-4951-8948-81EE88A7A8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33600" y="1990725"/>
            <a:ext cx="895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071421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071421"/>
                </a:solidFill>
                <a:latin typeface="Arial"/>
                <a:ea typeface="Arial"/>
                <a:cs typeface="Arial"/>
              </a:rPr>
              <a:t>SETUP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8CF1141-B351-44AE-9369-707F8907EA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1924050"/>
            <a:ext cx="6191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F8FAFC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F8FAFC"/>
                </a:solidFill>
                <a:latin typeface="Arial"/>
                <a:ea typeface="Arial"/>
                <a:cs typeface="Arial"/>
              </a:rPr>
              <a:t>Show accessibility connected + blue Ready banner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6CF1701-6AE6-40A4-B285-EF8782A939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2838450"/>
            <a:ext cx="342900" cy="3429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4B942"/>
          </a:solidFill>
          <a:ln xmlns:a="http://schemas.openxmlformats.org/drawingml/2006/main" w="47625">
            <a:solidFill>
              <a:srgbClr val="071421"/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2385968-F2AF-4998-879B-228229F970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62250"/>
            <a:ext cx="666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F4B942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F4B942"/>
                </a:solidFill>
                <a:latin typeface="Arial"/>
                <a:ea typeface="Arial"/>
                <a:cs typeface="Arial"/>
              </a:rPr>
              <a:t>0:30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40CCFED-6902-47A6-B17D-E9FC0B014C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38350" y="2771775"/>
            <a:ext cx="1085850" cy="3048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4B942"/>
          </a:solidFill>
          <a:ln xmlns:a="http://schemas.openxmlformats.org/drawingml/2006/main" w="9525">
            <a:solidFill>
              <a:srgbClr val="F4B942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61CC190-CED3-4CA8-A182-B3B5A5CFAC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33600" y="2790825"/>
            <a:ext cx="895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071421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071421"/>
                </a:solidFill>
                <a:latin typeface="Arial"/>
                <a:ea typeface="Arial"/>
                <a:cs typeface="Arial"/>
              </a:rPr>
              <a:t>TEACH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BE69B81-6BB9-4D66-ADF4-2121FF09DA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2724150"/>
            <a:ext cx="6191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F8FAFC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F8FAFC"/>
                </a:solidFill>
                <a:latin typeface="Arial"/>
                <a:ea typeface="Arial"/>
                <a:cs typeface="Arial"/>
              </a:rPr>
              <a:t>Record one ADD tap as “choco chip brownie safe”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1A047B8-22EC-4757-817B-5AD0A3FBD5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3638550"/>
            <a:ext cx="342900" cy="3429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DD4BF"/>
          </a:solidFill>
          <a:ln xmlns:a="http://schemas.openxmlformats.org/drawingml/2006/main" w="47625">
            <a:solidFill>
              <a:srgbClr val="071421"/>
            </a:solidFill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08D85BF-341F-4093-A7DD-37CE53F058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562350"/>
            <a:ext cx="666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2DD4BF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2DD4BF"/>
                </a:solidFill>
                <a:latin typeface="Arial"/>
                <a:ea typeface="Arial"/>
                <a:cs typeface="Arial"/>
              </a:rPr>
              <a:t>1:30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D188DAC-E811-4C6C-9BD5-F3F5A61683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38350" y="3571875"/>
            <a:ext cx="1085850" cy="3048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DD4BF"/>
          </a:solidFill>
          <a:ln xmlns:a="http://schemas.openxmlformats.org/drawingml/2006/main" w="9525">
            <a:solidFill>
              <a:srgbClr val="2DD4BF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33F4E73-673C-4AC4-9B17-22DDA5C576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33600" y="3590925"/>
            <a:ext cx="895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071421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071421"/>
                </a:solidFill>
                <a:latin typeface="Arial"/>
                <a:ea typeface="Arial"/>
                <a:cs typeface="Arial"/>
              </a:rPr>
              <a:t>REPLAY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B765530-647E-43F3-BA34-72A52DC3CC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3524250"/>
            <a:ext cx="6191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8FAFC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F8FAFC"/>
                </a:solidFill>
                <a:latin typeface="Arial"/>
                <a:ea typeface="Arial"/>
                <a:cs typeface="Arial"/>
              </a:rPr>
              <a:t>Say the exact command; show verified quantity 1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7DC2AF0-988E-4A14-8D78-965E51DA56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4438650"/>
            <a:ext cx="342900" cy="3429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5D68B"/>
          </a:solidFill>
          <a:ln xmlns:a="http://schemas.openxmlformats.org/drawingml/2006/main" w="47625">
            <a:solidFill>
              <a:srgbClr val="071421"/>
            </a:solidFill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A2129C1-A048-4884-8849-3D50749EEE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62450"/>
            <a:ext cx="666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55D68B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55D68B"/>
                </a:solidFill>
                <a:latin typeface="Arial"/>
                <a:ea typeface="Arial"/>
                <a:cs typeface="Arial"/>
              </a:rPr>
              <a:t>2:15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DD1B056-8A66-4267-B6E9-23423F157A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38350" y="4371975"/>
            <a:ext cx="1085850" cy="3048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55D68B"/>
          </a:solidFill>
          <a:ln xmlns:a="http://schemas.openxmlformats.org/drawingml/2006/main" w="9525">
            <a:solidFill>
              <a:srgbClr val="55D68B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CE2D76DD-B883-46EA-8DB1-7ECF3A210D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33600" y="4391025"/>
            <a:ext cx="895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071421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071421"/>
                </a:solidFill>
                <a:latin typeface="Arial"/>
                <a:ea typeface="Arial"/>
                <a:cs typeface="Arial"/>
              </a:rPr>
              <a:t>HINGLISH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97506076-20F0-409E-BA3A-D186B269BF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4324350"/>
            <a:ext cx="6191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F8FAFC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F8FAFC"/>
                </a:solidFill>
                <a:latin typeface="Arial"/>
                <a:ea typeface="Arial"/>
                <a:cs typeface="Arial"/>
              </a:rPr>
              <a:t>Remove item; say “do…”; show verified quantity 2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11C52851-71C2-4EA3-8661-99EB78320E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5238750"/>
            <a:ext cx="342900" cy="3429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8A4C"/>
          </a:solidFill>
          <a:ln xmlns:a="http://schemas.openxmlformats.org/drawingml/2006/main" w="47625">
            <a:solidFill>
              <a:srgbClr val="071421"/>
            </a:solidFill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8EDD6CF1-B17B-4B0C-A217-3E70BE4C32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62550"/>
            <a:ext cx="666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FF8A4C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FF8A4C"/>
                </a:solidFill>
                <a:latin typeface="Arial"/>
                <a:ea typeface="Arial"/>
                <a:cs typeface="Arial"/>
              </a:rPr>
              <a:t>3:00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3A0A2DFE-1850-4323-8438-293EE1ABFE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38350" y="5172075"/>
            <a:ext cx="1085850" cy="3048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8A4C"/>
          </a:solidFill>
          <a:ln xmlns:a="http://schemas.openxmlformats.org/drawingml/2006/main" w="9525">
            <a:solidFill>
              <a:srgbClr val="FF8A4C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171CF5E4-595E-48A3-932A-6D7E51545C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33600" y="5191125"/>
            <a:ext cx="895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071421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071421"/>
                </a:solidFill>
                <a:latin typeface="Arial"/>
                <a:ea typeface="Arial"/>
                <a:cs typeface="Arial"/>
              </a:rPr>
              <a:t>SAFETY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51A157CE-B9CE-46D2-9D87-F5EA574836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5124450"/>
            <a:ext cx="6191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F8FAFC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F8FAFC"/>
                </a:solidFill>
                <a:latin typeface="Arial"/>
                <a:ea typeface="Arial"/>
                <a:cs typeface="Arial"/>
              </a:rPr>
              <a:t>Unknown command, manual Stop, or payment handoff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D35CC423-7449-49A1-9752-FD1DA6C471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1962150"/>
            <a:ext cx="1733550" cy="3676650"/>
          </a:xfrm>
          <a:prstGeom xmlns:a="http://schemas.openxmlformats.org/drawingml/2006/main" prst="roundRect">
            <a:avLst>
              <a:gd name="adj" fmla="val 12088"/>
            </a:avLst>
          </a:prstGeom>
          <a:solidFill xmlns:a="http://schemas.openxmlformats.org/drawingml/2006/main">
            <a:srgbClr val="132F44"/>
          </a:solidFill>
          <a:ln xmlns:a="http://schemas.openxmlformats.org/drawingml/2006/main" w="9525">
            <a:solidFill>
              <a:srgbClr val="294C63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A8091D80-FCD3-4572-AC85-6282B73EE8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48850" y="2152650"/>
            <a:ext cx="12763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2DD4BF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2DD4BF"/>
                </a:solidFill>
                <a:latin typeface="Arial"/>
                <a:ea typeface="Arial"/>
                <a:cs typeface="Arial"/>
              </a:rPr>
              <a:t>DO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EEAE2D29-B2A7-46AC-B2EA-4E70E19F8A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48850" y="2457450"/>
            <a:ext cx="1276350" cy="1504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F8FAFC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F8FAFC"/>
                </a:solidFill>
                <a:latin typeface="Arial"/>
                <a:ea typeface="Arial"/>
                <a:cs typeface="Arial"/>
              </a:rPr>
              <a:t>Use one item</a:t>
            </a:r>
          </a:p>
          <a:p xmlns:a="http://schemas.openxmlformats.org/drawingml/2006/main">
            <a:pPr algn="l">
              <a:defRPr sz="1125" b="0">
                <a:solidFill>
                  <a:srgbClr val="F8FAFC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F8FAFC"/>
                </a:solidFill>
                <a:latin typeface="Arial"/>
                <a:ea typeface="Arial"/>
                <a:cs typeface="Arial"/>
              </a:rPr>
              <a:t>Keep the screen stable</a:t>
            </a:r>
          </a:p>
          <a:p xmlns:a="http://schemas.openxmlformats.org/drawingml/2006/main">
            <a:pPr algn="l">
              <a:defRPr sz="1125" b="0">
                <a:solidFill>
                  <a:srgbClr val="F8FAFC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F8FAFC"/>
                </a:solidFill>
                <a:latin typeface="Arial"/>
                <a:ea typeface="Arial"/>
                <a:cs typeface="Arial"/>
              </a:rPr>
              <a:t>Wait for yellow result</a:t>
            </a:r>
          </a:p>
          <a:p xmlns:a="http://schemas.openxmlformats.org/drawingml/2006/main">
            <a:pPr algn="l">
              <a:defRPr sz="1125" b="0">
                <a:solidFill>
                  <a:srgbClr val="F8FAFC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F8FAFC"/>
                </a:solidFill>
                <a:latin typeface="Arial"/>
                <a:ea typeface="Arial"/>
                <a:cs typeface="Arial"/>
              </a:rPr>
              <a:t>Narrate the safety stop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BC3294E1-A7CA-4FAB-9611-77C84EC965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48850" y="4229100"/>
            <a:ext cx="12763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FF8A4C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FF8A4C"/>
                </a:solidFill>
                <a:latin typeface="Arial"/>
                <a:ea typeface="Arial"/>
                <a:cs typeface="Arial"/>
              </a:rPr>
              <a:t>DON’T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2D96140F-AC73-45D3-8B08-A5EDC480CA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48850" y="4524375"/>
            <a:ext cx="127635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AFC3D4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AFC3D4"/>
                </a:solidFill>
                <a:latin typeface="Arial"/>
                <a:ea typeface="Arial"/>
                <a:cs typeface="Arial"/>
              </a:rPr>
              <a:t>Confirm an order</a:t>
            </a:r>
          </a:p>
          <a:p xmlns:a="http://schemas.openxmlformats.org/drawingml/2006/main">
            <a:pPr algn="l">
              <a:defRPr sz="1125" b="0">
                <a:solidFill>
                  <a:srgbClr val="AFC3D4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AFC3D4"/>
                </a:solidFill>
                <a:latin typeface="Arial"/>
                <a:ea typeface="Arial"/>
                <a:cs typeface="Arial"/>
              </a:rPr>
              <a:t>Show credentials</a:t>
            </a:r>
          </a:p>
          <a:p xmlns:a="http://schemas.openxmlformats.org/drawingml/2006/main">
            <a:pPr algn="l">
              <a:defRPr sz="1125" b="0">
                <a:solidFill>
                  <a:srgbClr val="AFC3D4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AFC3D4"/>
                </a:solidFill>
                <a:latin typeface="Arial"/>
                <a:ea typeface="Arial"/>
                <a:cs typeface="Arial"/>
              </a:rPr>
              <a:t>Claim Swiggy replay</a:t>
            </a:r>
          </a:p>
        </p:txBody>
      </p:sp>
    </p:spTree>
    <p:extLst>
      <p:ext uri="{BB962C8B-B14F-4D97-AF65-F5344CB8AC3E}">
        <p14:creationId xmlns:p14="http://schemas.microsoft.com/office/powerpoint/2010/main" val="991089115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07142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5031ED8F-9348-4F24-B91A-BE64361651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960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94C63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9D8289C-5A47-4022-AB78-35A99676C7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476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AFC3D4"/>
                </a:solidFill>
                <a:latin typeface="Arial"/>
                <a:ea typeface="Arial"/>
                <a:cs typeface="Arial"/>
              </a:defRPr>
            </a:pPr>
            <a:r>
              <a:rPr sz="750" b="0">
                <a:solidFill>
                  <a:srgbClr val="AFC3D4"/>
                </a:solidFill>
                <a:latin typeface="Arial"/>
                <a:ea typeface="Arial"/>
                <a:cs typeface="Arial"/>
              </a:rPr>
              <a:t>STRAWHATS  •  SCOPE + ROADMAP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AA42D56-02FD-4B61-918E-DAE75D58C4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534150"/>
            <a:ext cx="6286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750" b="1">
                <a:solidFill>
                  <a:srgbClr val="F4B942"/>
                </a:solidFill>
                <a:latin typeface="Arial"/>
                <a:ea typeface="Arial"/>
                <a:cs typeface="Arial"/>
              </a:defRPr>
            </a:pPr>
            <a:r>
              <a:rPr sz="750" b="1">
                <a:solidFill>
                  <a:srgbClr val="F4B942"/>
                </a:solidFill>
                <a:latin typeface="Arial"/>
                <a:ea typeface="Arial"/>
                <a:cs typeface="Arial"/>
              </a:rPr>
              <a:t>10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D16CD1A-8527-4248-A2EB-B4D7C035E3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495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F4B942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F4B942"/>
                </a:solidFill>
                <a:latin typeface="Arial"/>
                <a:ea typeface="Arial"/>
                <a:cs typeface="Arial"/>
              </a:rPr>
              <a:t>09 · HONEST SCOPE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35EDDE8-3D03-42B5-A26E-01EDBB7429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8175"/>
            <a:ext cx="10763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F8FAFC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F8FAFC"/>
                </a:solidFill>
                <a:latin typeface="Arial"/>
                <a:ea typeface="Arial"/>
                <a:cs typeface="Arial"/>
              </a:rPr>
              <a:t>A strong prototype with explicit boundaries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414F826-AB87-4BCA-B21D-1DFDB9489F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219200"/>
            <a:ext cx="10668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AFC3D4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AFC3D4"/>
                </a:solidFill>
                <a:latin typeface="Arial"/>
                <a:ea typeface="Arial"/>
                <a:cs typeface="Arial"/>
              </a:rPr>
              <a:t>The current build proves a safe one-item replay pattern; the next steps broaden compatibility and generalization.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10DD02B-A2D2-4D9E-9791-FC64234B2B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66900"/>
            <a:ext cx="5105400" cy="4057650"/>
          </a:xfrm>
          <a:prstGeom xmlns:a="http://schemas.openxmlformats.org/drawingml/2006/main" prst="roundRect">
            <a:avLst>
              <a:gd name="adj" fmla="val 5634"/>
            </a:avLst>
          </a:prstGeom>
          <a:solidFill xmlns:a="http://schemas.openxmlformats.org/drawingml/2006/main">
            <a:srgbClr val="132F44"/>
          </a:solidFill>
          <a:ln xmlns:a="http://schemas.openxmlformats.org/drawingml/2006/main" w="9525">
            <a:solidFill>
              <a:srgbClr val="2DD4BF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056D646-4D02-42C4-9C17-14265A9CFA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095500"/>
            <a:ext cx="1352550" cy="3048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DD4BF"/>
          </a:solidFill>
          <a:ln xmlns:a="http://schemas.openxmlformats.org/drawingml/2006/main" w="9525">
            <a:solidFill>
              <a:srgbClr val="2DD4BF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DC020AF-09BD-41D2-A461-A679B169E0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114550"/>
            <a:ext cx="1162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071421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071421"/>
                </a:solidFill>
                <a:latin typeface="Arial"/>
                <a:ea typeface="Arial"/>
                <a:cs typeface="Arial"/>
              </a:rPr>
              <a:t>WORKS NOW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1EA1495-CFE9-4F74-ACD2-CF8887111E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628900"/>
            <a:ext cx="495300" cy="495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DD4BF"/>
          </a:solidFill>
          <a:ln xmlns:a="http://schemas.openxmlformats.org/drawingml/2006/main" w="0">
            <a:solidFill>
              <a:srgbClr val="2DD4BF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1BB4F9C-52B5-42BA-A349-EFD9E3145A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628900"/>
            <a:ext cx="4953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071421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071421"/>
                </a:solidFill>
                <a:latin typeface="Arial"/>
                <a:ea typeface="Arial"/>
                <a:cs typeface="Arial"/>
              </a:rPr>
              <a:t>✓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3E3AE6F-F8A8-4085-824E-FA9D05981F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2686050"/>
            <a:ext cx="3905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F8FAFC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F8FAFC"/>
                </a:solidFill>
                <a:latin typeface="Arial"/>
                <a:ea typeface="Arial"/>
                <a:cs typeface="Arial"/>
              </a:rPr>
              <a:t>Teach a one-tap Zomato item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9190B17-C636-4017-B03F-020853799E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105150"/>
            <a:ext cx="495300" cy="495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DD4BF"/>
          </a:solidFill>
          <a:ln xmlns:a="http://schemas.openxmlformats.org/drawingml/2006/main" w="0">
            <a:solidFill>
              <a:srgbClr val="2DD4BF"/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DC70758-E469-48E6-B494-59B61EBDD2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105150"/>
            <a:ext cx="4953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071421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071421"/>
                </a:solidFill>
                <a:latin typeface="Arial"/>
                <a:ea typeface="Arial"/>
                <a:cs typeface="Arial"/>
              </a:rPr>
              <a:t>✓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0F6115A-531C-4374-828D-C789B1506A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3162300"/>
            <a:ext cx="3905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F8FAFC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F8FAFC"/>
                </a:solidFill>
                <a:latin typeface="Arial"/>
                <a:ea typeface="Arial"/>
                <a:cs typeface="Arial"/>
              </a:rPr>
              <a:t>Exact + wrapper paraphrase matching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FD5E4CF-A0FD-40CB-A964-E4998F5E8E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581400"/>
            <a:ext cx="495300" cy="495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DD4BF"/>
          </a:solidFill>
          <a:ln xmlns:a="http://schemas.openxmlformats.org/drawingml/2006/main" w="0">
            <a:solidFill>
              <a:srgbClr val="2DD4BF"/>
            </a:solidFill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5A21B97-A478-4A09-982C-09AF02B6E9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581400"/>
            <a:ext cx="4953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071421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071421"/>
                </a:solidFill>
                <a:latin typeface="Arial"/>
                <a:ea typeface="Arial"/>
                <a:cs typeface="Arial"/>
              </a:rPr>
              <a:t>✓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70D40DD-B1D9-49E2-B6B0-DB19FA1780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3638550"/>
            <a:ext cx="3905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F8FAFC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F8FAFC"/>
                </a:solidFill>
                <a:latin typeface="Arial"/>
                <a:ea typeface="Arial"/>
                <a:cs typeface="Arial"/>
              </a:rPr>
              <a:t>English / Hinglish quantity 1–5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8BB483A-F2C1-4C1F-A940-BF3620F669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057650"/>
            <a:ext cx="495300" cy="495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DD4BF"/>
          </a:solidFill>
          <a:ln xmlns:a="http://schemas.openxmlformats.org/drawingml/2006/main" w="0">
            <a:solidFill>
              <a:srgbClr val="2DD4BF"/>
            </a:solidFill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BD7D619-0CEF-4FDE-A4C0-6A5FF54E80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057650"/>
            <a:ext cx="4953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071421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071421"/>
                </a:solidFill>
                <a:latin typeface="Arial"/>
                <a:ea typeface="Arial"/>
                <a:cs typeface="Arial"/>
              </a:rPr>
              <a:t>✓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BA5F5ED-F9C7-453E-BC3C-DCE1506861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4114800"/>
            <a:ext cx="3905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F8FAFC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F8FAFC"/>
                </a:solidFill>
                <a:latin typeface="Arial"/>
                <a:ea typeface="Arial"/>
                <a:cs typeface="Arial"/>
              </a:rPr>
              <a:t>Fresh safety check per action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6DDBE3B-D68E-421C-9C6E-061B413B3D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533900"/>
            <a:ext cx="495300" cy="495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DD4BF"/>
          </a:solidFill>
          <a:ln xmlns:a="http://schemas.openxmlformats.org/drawingml/2006/main" w="0">
            <a:solidFill>
              <a:srgbClr val="2DD4BF"/>
            </a:solidFill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CB9FD27-A21A-40F9-B1F8-6AA756AEFF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533900"/>
            <a:ext cx="4953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071421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071421"/>
                </a:solidFill>
                <a:latin typeface="Arial"/>
                <a:ea typeface="Arial"/>
                <a:cs typeface="Arial"/>
              </a:rPr>
              <a:t>✓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EF4FA42-1CFA-4839-A429-70C479A747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4591050"/>
            <a:ext cx="3905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F8FAFC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F8FAFC"/>
                </a:solidFill>
                <a:latin typeface="Arial"/>
                <a:ea typeface="Arial"/>
                <a:cs typeface="Arial"/>
              </a:rPr>
              <a:t>Verified structural postcondition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6674F90-60F0-4647-8C34-91028DDDBE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010150"/>
            <a:ext cx="495300" cy="495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DD4BF"/>
          </a:solidFill>
          <a:ln xmlns:a="http://schemas.openxmlformats.org/drawingml/2006/main" w="0">
            <a:solidFill>
              <a:srgbClr val="2DD4BF"/>
            </a:solidFill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8C87AB4F-B5E9-4089-A752-502E810E13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010150"/>
            <a:ext cx="4953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071421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071421"/>
                </a:solidFill>
                <a:latin typeface="Arial"/>
                <a:ea typeface="Arial"/>
                <a:cs typeface="Arial"/>
              </a:rPr>
              <a:t>✓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CD08255A-84E5-4F51-89A3-2890F585E5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5067300"/>
            <a:ext cx="3905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F8FAFC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F8FAFC"/>
                </a:solidFill>
                <a:latin typeface="Arial"/>
                <a:ea typeface="Arial"/>
                <a:cs typeface="Arial"/>
              </a:rPr>
              <a:t>Local Room persistence + deletion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93B49B94-4D6E-4DEC-A943-592A60420E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1866900"/>
            <a:ext cx="5334000" cy="4057650"/>
          </a:xfrm>
          <a:prstGeom xmlns:a="http://schemas.openxmlformats.org/drawingml/2006/main" prst="roundRect">
            <a:avLst>
              <a:gd name="adj" fmla="val 5634"/>
            </a:avLst>
          </a:prstGeom>
          <a:solidFill xmlns:a="http://schemas.openxmlformats.org/drawingml/2006/main">
            <a:srgbClr val="201D19"/>
          </a:solidFill>
          <a:ln xmlns:a="http://schemas.openxmlformats.org/drawingml/2006/main" w="9525">
            <a:solidFill>
              <a:srgbClr val="F4B942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E2CC8287-4D53-4F77-AA5F-7A185BFA50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2095500"/>
            <a:ext cx="914400" cy="3048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4B942"/>
          </a:solidFill>
          <a:ln xmlns:a="http://schemas.openxmlformats.org/drawingml/2006/main" w="9525">
            <a:solidFill>
              <a:srgbClr val="F4B942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D1FD1BF1-A96A-4108-8453-6B00AAF0C3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2114550"/>
            <a:ext cx="723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071421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071421"/>
                </a:solidFill>
                <a:latin typeface="Arial"/>
                <a:ea typeface="Arial"/>
                <a:cs typeface="Arial"/>
              </a:rPr>
              <a:t>NEXT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5C63C9AC-A169-461C-9C73-D5D2FCE5E1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647950"/>
            <a:ext cx="381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F4B942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F4B942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C02E715B-1409-4F25-82EC-9667AA7EAA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2628900"/>
            <a:ext cx="4171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E8F0F6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E8F0F6"/>
                </a:solidFill>
                <a:latin typeface="Arial"/>
                <a:ea typeface="Arial"/>
                <a:cs typeface="Arial"/>
              </a:rPr>
              <a:t>Parameterize item identity, not only quantity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F0A22272-5C91-41C5-97E3-21F83996A0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124200"/>
            <a:ext cx="381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F4B942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F4B942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CE2E6E6E-501F-4B43-A926-B63F6AC935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3105150"/>
            <a:ext cx="4171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E8F0F6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E8F0F6"/>
                </a:solidFill>
                <a:latin typeface="Arial"/>
                <a:ea typeface="Arial"/>
                <a:cs typeface="Arial"/>
              </a:rPr>
              <a:t>Teach address selection with user confirmation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7406575E-2AA0-4C96-B913-B1C1C4EEF5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600450"/>
            <a:ext cx="381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F4B942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F4B942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04A5BDED-D376-424D-B2DF-0CF2D1C77B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3581400"/>
            <a:ext cx="4171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E8F0F6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E8F0F6"/>
                </a:solidFill>
                <a:latin typeface="Arial"/>
                <a:ea typeface="Arial"/>
                <a:cs typeface="Arial"/>
              </a:rPr>
              <a:t>Expand safe selectors across more layouts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539E8985-6453-4BA1-9316-8D484136BC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4076700"/>
            <a:ext cx="381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F4B942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F4B942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0E6E6B3C-F2C7-49B1-8651-A1787485CF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4057650"/>
            <a:ext cx="4171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E8F0F6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E8F0F6"/>
                </a:solidFill>
                <a:latin typeface="Arial"/>
                <a:ea typeface="Arial"/>
                <a:cs typeface="Arial"/>
              </a:rPr>
              <a:t>Add a second app once its tree is readable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3B8B76A1-6325-4B4F-AF1D-7EA527BB44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4552950"/>
            <a:ext cx="381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F4B942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F4B942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C9A10EC1-F70C-4C24-899F-EEE459C711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4533900"/>
            <a:ext cx="4171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E8F0F6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E8F0F6"/>
                </a:solidFill>
                <a:latin typeface="Arial"/>
                <a:ea typeface="Arial"/>
                <a:cs typeface="Arial"/>
              </a:rPr>
              <a:t>Run the full multi-utterance reliability matrix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0591D909-D3F8-4F0B-BE60-4F8F939E1F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5029200"/>
            <a:ext cx="381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F4B942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F4B942"/>
                </a:solidFill>
                <a:latin typeface="Arial"/>
                <a:ea typeface="Arial"/>
                <a:cs typeface="Arial"/>
              </a:rPr>
              <a:t>06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085A0C25-6C28-4A5E-B841-8371EDCA7E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5010150"/>
            <a:ext cx="4171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E8F0F6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E8F0F6"/>
                </a:solidFill>
                <a:latin typeface="Arial"/>
                <a:ea typeface="Arial"/>
                <a:cs typeface="Arial"/>
              </a:rPr>
              <a:t>Polish onboarding and production signing</a:t>
            </a:r>
          </a:p>
        </p:txBody>
      </p:sp>
    </p:spTree>
    <p:extLst>
      <p:ext uri="{BB962C8B-B14F-4D97-AF65-F5344CB8AC3E}">
        <p14:creationId xmlns:p14="http://schemas.microsoft.com/office/powerpoint/2010/main" val="1297548034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07142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CC068B99-ED62-4964-A2FD-D30354F686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960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94C63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008921E-DE00-42F5-B6B7-C8D70990FE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476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AFC3D4"/>
                </a:solidFill>
                <a:latin typeface="Arial"/>
                <a:ea typeface="Arial"/>
                <a:cs typeface="Arial"/>
              </a:defRPr>
            </a:pPr>
            <a:r>
              <a:rPr sz="750" b="0">
                <a:solidFill>
                  <a:srgbClr val="AFC3D4"/>
                </a:solidFill>
                <a:latin typeface="Arial"/>
                <a:ea typeface="Arial"/>
                <a:cs typeface="Arial"/>
              </a:rPr>
              <a:t>STRAWHATS  •  SUBMISSION READY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33C4F6F-BB5B-447B-9AF5-FDC0A59A68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534150"/>
            <a:ext cx="6286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750" b="1">
                <a:solidFill>
                  <a:srgbClr val="F4B942"/>
                </a:solidFill>
                <a:latin typeface="Arial"/>
                <a:ea typeface="Arial"/>
                <a:cs typeface="Arial"/>
              </a:defRPr>
            </a:pPr>
            <a:r>
              <a:rPr sz="750" b="1">
                <a:solidFill>
                  <a:srgbClr val="F4B942"/>
                </a:solidFill>
                <a:latin typeface="Arial"/>
                <a:ea typeface="Arial"/>
                <a:cs typeface="Arial"/>
              </a:rPr>
              <a:t>11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1F22E7F-CF03-444A-8D1E-0BBA7475C4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495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F4B942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F4B942"/>
                </a:solidFill>
                <a:latin typeface="Arial"/>
                <a:ea typeface="Arial"/>
                <a:cs typeface="Arial"/>
              </a:rPr>
              <a:t>10 · DELIVERY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1BD4A82-87AA-426B-A026-BCCBA68FBC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8175"/>
            <a:ext cx="10763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F8FAFC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F8FAFC"/>
                </a:solidFill>
                <a:latin typeface="Arial"/>
                <a:ea typeface="Arial"/>
                <a:cs typeface="Arial"/>
              </a:rPr>
              <a:t>Everything a reviewer needs lives in one repository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FC446D6-3718-488A-B5E6-27D90D3944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219200"/>
            <a:ext cx="10668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AFC3D4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AFC3D4"/>
                </a:solidFill>
                <a:latin typeface="Arial"/>
                <a:ea typeface="Arial"/>
                <a:cs typeface="Arial"/>
              </a:rPr>
              <a:t>Source, evaluation APK, docs, video, disclosure and this presentation are linked from the README.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2BE283A-7859-4838-916F-FF2398E470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47850"/>
            <a:ext cx="5105400" cy="704850"/>
          </a:xfrm>
          <a:prstGeom xmlns:a="http://schemas.openxmlformats.org/drawingml/2006/main" prst="roundRect">
            <a:avLst>
              <a:gd name="adj" fmla="val 21622"/>
            </a:avLst>
          </a:prstGeom>
          <a:solidFill xmlns:a="http://schemas.openxmlformats.org/drawingml/2006/main">
            <a:srgbClr val="132F44"/>
          </a:solidFill>
          <a:ln xmlns:a="http://schemas.openxmlformats.org/drawingml/2006/main" w="9525">
            <a:solidFill>
              <a:srgbClr val="2DD4BF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D62DA6F-772F-46DD-9E83-9F6B79E76C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952625"/>
            <a:ext cx="495300" cy="495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DD4BF"/>
          </a:solidFill>
          <a:ln xmlns:a="http://schemas.openxmlformats.org/drawingml/2006/main" w="0">
            <a:solidFill>
              <a:srgbClr val="2DD4BF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335C0E5-AF0C-4267-A95C-12170FD62D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952625"/>
            <a:ext cx="4953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071421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071421"/>
                </a:solidFill>
                <a:latin typeface="Arial"/>
                <a:ea typeface="Arial"/>
                <a:cs typeface="Arial"/>
              </a:rPr>
              <a:t>✓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3AAC1B0-BB59-4BA7-B0F0-562A888594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1924050"/>
            <a:ext cx="1752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2DD4BF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2DD4BF"/>
                </a:solidFill>
                <a:latin typeface="Arial"/>
                <a:ea typeface="Arial"/>
                <a:cs typeface="Arial"/>
              </a:rPr>
              <a:t>SOURCE CODE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F34803D-5A33-450F-B39A-ABE9E97292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2171700"/>
            <a:ext cx="403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F8FAFC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F8FAFC"/>
                </a:solidFill>
                <a:latin typeface="Arial"/>
                <a:ea typeface="Arial"/>
                <a:cs typeface="Arial"/>
              </a:rPr>
              <a:t>Android/Kotlin project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8BBFA69-FA85-4CED-B11F-F623D71570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1847850"/>
            <a:ext cx="5105400" cy="704850"/>
          </a:xfrm>
          <a:prstGeom xmlns:a="http://schemas.openxmlformats.org/drawingml/2006/main" prst="roundRect">
            <a:avLst>
              <a:gd name="adj" fmla="val 21622"/>
            </a:avLst>
          </a:prstGeom>
          <a:solidFill xmlns:a="http://schemas.openxmlformats.org/drawingml/2006/main">
            <a:srgbClr val="132F44"/>
          </a:solidFill>
          <a:ln xmlns:a="http://schemas.openxmlformats.org/drawingml/2006/main" w="9525">
            <a:solidFill>
              <a:srgbClr val="2DD4BF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22092C3-B00A-4A71-995F-45A1FED918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1952625"/>
            <a:ext cx="495300" cy="495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DD4BF"/>
          </a:solidFill>
          <a:ln xmlns:a="http://schemas.openxmlformats.org/drawingml/2006/main" w="0">
            <a:solidFill>
              <a:srgbClr val="2DD4BF"/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D896065-F202-4F20-AB1E-840F89FDF1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1952625"/>
            <a:ext cx="4953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071421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071421"/>
                </a:solidFill>
                <a:latin typeface="Arial"/>
                <a:ea typeface="Arial"/>
                <a:cs typeface="Arial"/>
              </a:rPr>
              <a:t>✓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34A202D-36D8-4468-9D15-CE3CB9616D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1924050"/>
            <a:ext cx="1752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2DD4BF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2DD4BF"/>
                </a:solidFill>
                <a:latin typeface="Arial"/>
                <a:ea typeface="Arial"/>
                <a:cs typeface="Arial"/>
              </a:rPr>
              <a:t>PRESENTATION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9A560F5-F3C6-40A6-81BB-1227F9940A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2171700"/>
            <a:ext cx="403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F8FAFC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F8FAFC"/>
                </a:solidFill>
                <a:latin typeface="Arial"/>
                <a:ea typeface="Arial"/>
                <a:cs typeface="Arial"/>
              </a:rPr>
              <a:t>This deck in /docs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12E95E8-EE0C-4F9E-8EF5-9BC340BA24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43200"/>
            <a:ext cx="5105400" cy="704850"/>
          </a:xfrm>
          <a:prstGeom xmlns:a="http://schemas.openxmlformats.org/drawingml/2006/main" prst="roundRect">
            <a:avLst>
              <a:gd name="adj" fmla="val 21622"/>
            </a:avLst>
          </a:prstGeom>
          <a:solidFill xmlns:a="http://schemas.openxmlformats.org/drawingml/2006/main">
            <a:srgbClr val="132F44"/>
          </a:solidFill>
          <a:ln xmlns:a="http://schemas.openxmlformats.org/drawingml/2006/main" w="9525">
            <a:solidFill>
              <a:srgbClr val="2DD4BF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D71A676-0DDC-4E1E-BB11-F9A6EE2C61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847975"/>
            <a:ext cx="495300" cy="495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DD4BF"/>
          </a:solidFill>
          <a:ln xmlns:a="http://schemas.openxmlformats.org/drawingml/2006/main" w="0">
            <a:solidFill>
              <a:srgbClr val="2DD4BF"/>
            </a:solidFill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61311BE-C0D4-4AA5-B22E-766280DCCA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847975"/>
            <a:ext cx="4953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071421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071421"/>
                </a:solidFill>
                <a:latin typeface="Arial"/>
                <a:ea typeface="Arial"/>
                <a:cs typeface="Arial"/>
              </a:rPr>
              <a:t>✓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166643E-89FB-45DE-BFC3-18F1322263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2819400"/>
            <a:ext cx="1752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2DD4BF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2DD4BF"/>
                </a:solidFill>
                <a:latin typeface="Arial"/>
                <a:ea typeface="Arial"/>
                <a:cs typeface="Arial"/>
              </a:rPr>
              <a:t>DEMO VIDEO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A5422E8-A8E7-48F3-9D03-EDA757EAB8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3067050"/>
            <a:ext cx="403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F8FAFC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F8FAFC"/>
                </a:solidFill>
                <a:latin typeface="Arial"/>
                <a:ea typeface="Arial"/>
                <a:cs typeface="Arial"/>
              </a:rPr>
              <a:t>YouTube link in README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4B34918-A532-4572-ADBB-84879A2FA8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2743200"/>
            <a:ext cx="5105400" cy="704850"/>
          </a:xfrm>
          <a:prstGeom xmlns:a="http://schemas.openxmlformats.org/drawingml/2006/main" prst="roundRect">
            <a:avLst>
              <a:gd name="adj" fmla="val 21622"/>
            </a:avLst>
          </a:prstGeom>
          <a:solidFill xmlns:a="http://schemas.openxmlformats.org/drawingml/2006/main">
            <a:srgbClr val="132F44"/>
          </a:solidFill>
          <a:ln xmlns:a="http://schemas.openxmlformats.org/drawingml/2006/main" w="9525">
            <a:solidFill>
              <a:srgbClr val="2DD4BF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EB037B7-4261-43F0-BD88-8083C65F98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2847975"/>
            <a:ext cx="495300" cy="495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DD4BF"/>
          </a:solidFill>
          <a:ln xmlns:a="http://schemas.openxmlformats.org/drawingml/2006/main" w="0">
            <a:solidFill>
              <a:srgbClr val="2DD4BF"/>
            </a:solidFill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EE5B9EA-31D8-44BE-A92B-3C2BBAC75A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2847975"/>
            <a:ext cx="4953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071421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071421"/>
                </a:solidFill>
                <a:latin typeface="Arial"/>
                <a:ea typeface="Arial"/>
                <a:cs typeface="Arial"/>
              </a:rPr>
              <a:t>✓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F8F9A2E-C971-4CD1-8267-62C1E8409B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2819400"/>
            <a:ext cx="1752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2DD4BF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2DD4BF"/>
                </a:solidFill>
                <a:latin typeface="Arial"/>
                <a:ea typeface="Arial"/>
                <a:cs typeface="Arial"/>
              </a:rPr>
              <a:t>AI DISCLOSURE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3FDE66B3-4B83-4417-ABDF-647C98FF78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3067050"/>
            <a:ext cx="403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F8FAFC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F8FAFC"/>
                </a:solidFill>
                <a:latin typeface="Arial"/>
                <a:ea typeface="Arial"/>
                <a:cs typeface="Arial"/>
              </a:rPr>
              <a:t>Explicit tools + runtime note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92602C48-DCDC-4B06-B4B0-39A902A6CE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38550"/>
            <a:ext cx="5105400" cy="704850"/>
          </a:xfrm>
          <a:prstGeom xmlns:a="http://schemas.openxmlformats.org/drawingml/2006/main" prst="roundRect">
            <a:avLst>
              <a:gd name="adj" fmla="val 21622"/>
            </a:avLst>
          </a:prstGeom>
          <a:solidFill xmlns:a="http://schemas.openxmlformats.org/drawingml/2006/main">
            <a:srgbClr val="132F44"/>
          </a:solidFill>
          <a:ln xmlns:a="http://schemas.openxmlformats.org/drawingml/2006/main" w="9525">
            <a:solidFill>
              <a:srgbClr val="2DD4BF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E87DD203-184F-4813-BD81-0715524FD8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743325"/>
            <a:ext cx="495300" cy="495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DD4BF"/>
          </a:solidFill>
          <a:ln xmlns:a="http://schemas.openxmlformats.org/drawingml/2006/main" w="0">
            <a:solidFill>
              <a:srgbClr val="2DD4BF"/>
            </a:solidFill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525CF94D-64F7-433C-846F-9457B214D5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743325"/>
            <a:ext cx="4953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071421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071421"/>
                </a:solidFill>
                <a:latin typeface="Arial"/>
                <a:ea typeface="Arial"/>
                <a:cs typeface="Arial"/>
              </a:rPr>
              <a:t>✓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7B5C046E-E634-44F7-8754-EB5817BABE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3714750"/>
            <a:ext cx="1752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2DD4BF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2DD4BF"/>
                </a:solidFill>
                <a:latin typeface="Arial"/>
                <a:ea typeface="Arial"/>
                <a:cs typeface="Arial"/>
              </a:rPr>
              <a:t>README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4F9E21F4-8FA0-40E3-AEA4-F3D1A0BC02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3962400"/>
            <a:ext cx="403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F8FAFC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F8FAFC"/>
                </a:solidFill>
                <a:latin typeface="Arial"/>
                <a:ea typeface="Arial"/>
                <a:cs typeface="Arial"/>
              </a:rPr>
              <a:t>Setup · architecture · limits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95E63A1D-72F2-460F-84C1-D699CC9ADB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3638550"/>
            <a:ext cx="5105400" cy="704850"/>
          </a:xfrm>
          <a:prstGeom xmlns:a="http://schemas.openxmlformats.org/drawingml/2006/main" prst="roundRect">
            <a:avLst>
              <a:gd name="adj" fmla="val 21622"/>
            </a:avLst>
          </a:prstGeom>
          <a:solidFill xmlns:a="http://schemas.openxmlformats.org/drawingml/2006/main">
            <a:srgbClr val="132F44"/>
          </a:solidFill>
          <a:ln xmlns:a="http://schemas.openxmlformats.org/drawingml/2006/main" w="9525">
            <a:solidFill>
              <a:srgbClr val="2DD4BF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3E4FB247-6910-439F-965C-077626D236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3743325"/>
            <a:ext cx="495300" cy="495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DD4BF"/>
          </a:solidFill>
          <a:ln xmlns:a="http://schemas.openxmlformats.org/drawingml/2006/main" w="0">
            <a:solidFill>
              <a:srgbClr val="2DD4BF"/>
            </a:solidFill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4E9A5021-6C1B-4E3E-A9A2-38418E6DCC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3743325"/>
            <a:ext cx="4953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071421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071421"/>
                </a:solidFill>
                <a:latin typeface="Arial"/>
                <a:ea typeface="Arial"/>
                <a:cs typeface="Arial"/>
              </a:rPr>
              <a:t>✓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95EE919B-7298-4A08-B7FF-B7395BCEF9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3714750"/>
            <a:ext cx="1752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2DD4BF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2DD4BF"/>
                </a:solidFill>
                <a:latin typeface="Arial"/>
                <a:ea typeface="Arial"/>
                <a:cs typeface="Arial"/>
              </a:rPr>
              <a:t>APK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CE9FA22B-E80D-40B5-93B5-D1CB1ED40B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3962400"/>
            <a:ext cx="403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F8FAFC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F8FAFC"/>
                </a:solidFill>
                <a:latin typeface="Arial"/>
                <a:ea typeface="Arial"/>
                <a:cs typeface="Arial"/>
              </a:rPr>
              <a:t>v0.4.0 debug evaluation build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23063E0E-DA69-416B-9C38-3FBF88E4A3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33900"/>
            <a:ext cx="5105400" cy="704850"/>
          </a:xfrm>
          <a:prstGeom xmlns:a="http://schemas.openxmlformats.org/drawingml/2006/main" prst="roundRect">
            <a:avLst>
              <a:gd name="adj" fmla="val 21622"/>
            </a:avLst>
          </a:prstGeom>
          <a:solidFill xmlns:a="http://schemas.openxmlformats.org/drawingml/2006/main">
            <a:srgbClr val="132F44"/>
          </a:solidFill>
          <a:ln xmlns:a="http://schemas.openxmlformats.org/drawingml/2006/main" w="9525">
            <a:solidFill>
              <a:srgbClr val="F4B942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10126297-6496-4B39-B813-9F6B58B262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638675"/>
            <a:ext cx="495300" cy="495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4B942"/>
          </a:solidFill>
          <a:ln xmlns:a="http://schemas.openxmlformats.org/drawingml/2006/main" w="0">
            <a:solidFill>
              <a:srgbClr val="F4B942"/>
            </a:solidFill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7D744BCA-CC53-4DE5-8E68-924266B582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638675"/>
            <a:ext cx="4953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071421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071421"/>
                </a:solidFill>
                <a:latin typeface="Arial"/>
                <a:ea typeface="Arial"/>
                <a:cs typeface="Arial"/>
              </a:rPr>
              <a:t>✓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6ECEFBC8-C110-46E2-B0A3-C6F6E283BE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4610100"/>
            <a:ext cx="1752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F4B942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F4B942"/>
                </a:solidFill>
                <a:latin typeface="Arial"/>
                <a:ea typeface="Arial"/>
                <a:cs typeface="Arial"/>
              </a:rPr>
              <a:t>TAG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01E6F76B-F828-43F7-94DC-44C2670C74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4857750"/>
            <a:ext cx="403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F8FAFC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F8FAFC"/>
                </a:solidFill>
                <a:latin typeface="Arial"/>
                <a:ea typeface="Arial"/>
                <a:cs typeface="Arial"/>
              </a:rPr>
              <a:t>PRISM_GENAI_HACKATHON_Y2026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50B8D24F-CE86-480B-B7B3-6ED3F4528A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4533900"/>
            <a:ext cx="5105400" cy="704850"/>
          </a:xfrm>
          <a:prstGeom xmlns:a="http://schemas.openxmlformats.org/drawingml/2006/main" prst="roundRect">
            <a:avLst>
              <a:gd name="adj" fmla="val 21622"/>
            </a:avLst>
          </a:prstGeom>
          <a:solidFill xmlns:a="http://schemas.openxmlformats.org/drawingml/2006/main">
            <a:srgbClr val="132F44"/>
          </a:solidFill>
          <a:ln xmlns:a="http://schemas.openxmlformats.org/drawingml/2006/main" w="9525">
            <a:solidFill>
              <a:srgbClr val="61A8FF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6B45ACC2-2E25-4423-B920-22832D6465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4638675"/>
            <a:ext cx="495300" cy="495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1A8FF"/>
          </a:solidFill>
          <a:ln xmlns:a="http://schemas.openxmlformats.org/drawingml/2006/main" w="0">
            <a:solidFill>
              <a:srgbClr val="61A8FF"/>
            </a:solidFill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024A5EBA-974A-468E-9AE5-D3BD8177A1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4638675"/>
            <a:ext cx="4953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071421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071421"/>
                </a:solidFill>
                <a:latin typeface="Arial"/>
                <a:ea typeface="Arial"/>
                <a:cs typeface="Arial"/>
              </a:rPr>
              <a:t>✓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BCE0EEF3-8AFB-4493-B45D-CFCDF0B5C3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4610100"/>
            <a:ext cx="1752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1A8FF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61A8FF"/>
                </a:solidFill>
                <a:latin typeface="Arial"/>
                <a:ea typeface="Arial"/>
                <a:cs typeface="Arial"/>
              </a:rPr>
              <a:t>CHECKSUM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84CADB62-BB3F-4AD2-86C5-D14DF8A618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4857750"/>
            <a:ext cx="403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F8FAFC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F8FAFC"/>
                </a:solidFill>
                <a:latin typeface="Arial"/>
                <a:ea typeface="Arial"/>
                <a:cs typeface="Arial"/>
              </a:rPr>
              <a:t>SHA-256 in /dist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E0382817-1170-44DE-A62D-37827C855A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38800"/>
            <a:ext cx="10744200" cy="438150"/>
          </a:xfrm>
          <a:prstGeom xmlns:a="http://schemas.openxmlformats.org/drawingml/2006/main" prst="roundRect">
            <a:avLst>
              <a:gd name="adj" fmla="val 34783"/>
            </a:avLst>
          </a:prstGeom>
          <a:solidFill xmlns:a="http://schemas.openxmlformats.org/drawingml/2006/main">
            <a:srgbClr val="102B3F"/>
          </a:solidFill>
          <a:ln xmlns:a="http://schemas.openxmlformats.org/drawingml/2006/main" w="9525">
            <a:solidFill>
              <a:srgbClr val="294C63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54AE1405-35E5-4AC1-A38C-4285AA157C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695950"/>
            <a:ext cx="103632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AFC3D4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AFC3D4"/>
                </a:solidFill>
                <a:latin typeface="Arial"/>
                <a:ea typeface="Arial"/>
                <a:cs typeface="Arial"/>
              </a:rPr>
              <a:t>AI disclosure: runtime uses no generative-AI API; Copilot and Codex assisted development, testing and documentation under human review.</a:t>
            </a:r>
          </a:p>
        </p:txBody>
      </p:sp>
    </p:spTree>
    <p:extLst>
      <p:ext uri="{BB962C8B-B14F-4D97-AF65-F5344CB8AC3E}">
        <p14:creationId xmlns:p14="http://schemas.microsoft.com/office/powerpoint/2010/main" val="433087198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07142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269DC7C0-8D18-40CC-9F8E-35B39BDB24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960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94C63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3E3A07C-43CC-4BB1-9B2E-227EAAD5B9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476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AFC3D4"/>
                </a:solidFill>
                <a:latin typeface="Arial"/>
                <a:ea typeface="Arial"/>
                <a:cs typeface="Arial"/>
              </a:defRPr>
            </a:pPr>
            <a:r>
              <a:rPr sz="750" b="0">
                <a:solidFill>
                  <a:srgbClr val="AFC3D4"/>
                </a:solidFill>
                <a:latin typeface="Arial"/>
                <a:ea typeface="Arial"/>
                <a:cs typeface="Arial"/>
              </a:rPr>
              <a:t>STRAWHATS  •  TEAM STRAWHATS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119BEEE-09D4-44C2-BAF4-79090A496C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534150"/>
            <a:ext cx="6286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750" b="1">
                <a:solidFill>
                  <a:srgbClr val="F4B942"/>
                </a:solidFill>
                <a:latin typeface="Arial"/>
                <a:ea typeface="Arial"/>
                <a:cs typeface="Arial"/>
              </a:defRPr>
            </a:pPr>
            <a:r>
              <a:rPr sz="750" b="1">
                <a:solidFill>
                  <a:srgbClr val="F4B942"/>
                </a:solidFill>
                <a:latin typeface="Arial"/>
                <a:ea typeface="Arial"/>
                <a:cs typeface="Arial"/>
              </a:rPr>
              <a:t>12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7D70D31-7884-4063-B7B8-04722E3D81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B942"/>
          </a:solidFill>
          <a:ln xmlns:a="http://schemas.openxmlformats.org/drawingml/2006/main" w="0">
            <a:solidFill>
              <a:srgbClr val="F4B942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7921709-F433-4857-AD3F-CC111A94FB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"/>
            <a:ext cx="6477000" cy="1181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F8FAFC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F8FAFC"/>
                </a:solidFill>
                <a:latin typeface="Arial"/>
                <a:ea typeface="Arial"/>
                <a:cs typeface="Arial"/>
              </a:rPr>
              <a:t>A safer way for native</a:t>
            </a:r>
          </a:p>
          <a:p xmlns:a="http://schemas.openxmlformats.org/drawingml/2006/main">
            <a:pPr algn="l">
              <a:defRPr sz="3000" b="1">
                <a:solidFill>
                  <a:srgbClr val="F8FAFC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F8FAFC"/>
                </a:solidFill>
                <a:latin typeface="Arial"/>
                <a:ea typeface="Arial"/>
                <a:cs typeface="Arial"/>
              </a:rPr>
              <a:t>apps to listen.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498F388-05C8-467D-B7FA-3126DA7006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924050"/>
            <a:ext cx="5715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4B942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4B942"/>
                </a:solidFill>
                <a:latin typeface="Arial"/>
                <a:ea typeface="Arial"/>
                <a:cs typeface="Arial"/>
              </a:rPr>
              <a:t>VOICE MACRO STUDIO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8F1E0D4-5E34-4034-BA5D-724D6C6696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67000"/>
            <a:ext cx="2857500" cy="64770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132F44"/>
          </a:solidFill>
          <a:ln xmlns:a="http://schemas.openxmlformats.org/drawingml/2006/main" w="9525">
            <a:solidFill>
              <a:srgbClr val="294C63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331090A-4387-4D9A-AB7F-2900E6AF7F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743200"/>
            <a:ext cx="495300" cy="495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4B942"/>
          </a:solidFill>
          <a:ln xmlns:a="http://schemas.openxmlformats.org/drawingml/2006/main" w="0">
            <a:solidFill>
              <a:srgbClr val="F4B942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699D918-A2D0-4562-8C91-AD4FEAA290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743200"/>
            <a:ext cx="4953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071421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071421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EDB6C76-E400-4066-9D88-56AF0F4FE2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2762250"/>
            <a:ext cx="2000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8FAFC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F8FAFC"/>
                </a:solidFill>
                <a:latin typeface="Arial"/>
                <a:ea typeface="Arial"/>
                <a:cs typeface="Arial"/>
              </a:rPr>
              <a:t>Soumya Ranjan Sahoo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7AAAEB4-77E7-4CE2-9864-D31BD2BC76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52850" y="2667000"/>
            <a:ext cx="2857500" cy="64770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132F44"/>
          </a:solidFill>
          <a:ln xmlns:a="http://schemas.openxmlformats.org/drawingml/2006/main" w="9525">
            <a:solidFill>
              <a:srgbClr val="294C63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A81897D-2889-457E-BC5F-F4C0F44A9B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8100" y="2743200"/>
            <a:ext cx="495300" cy="495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DD4BF"/>
          </a:solidFill>
          <a:ln xmlns:a="http://schemas.openxmlformats.org/drawingml/2006/main" w="0">
            <a:solidFill>
              <a:srgbClr val="2DD4BF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F6C67E4-3B26-492C-9F21-89A4D5EACD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8100" y="2743200"/>
            <a:ext cx="4953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071421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071421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6247935-6D45-4ABD-B6D1-540BF7A1D4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2762250"/>
            <a:ext cx="2000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8FAFC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F8FAFC"/>
                </a:solidFill>
                <a:latin typeface="Arial"/>
                <a:ea typeface="Arial"/>
                <a:cs typeface="Arial"/>
              </a:rPr>
              <a:t>Sandesh Anand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36DB8FA-768D-4675-977D-1A964AE5CD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543300"/>
            <a:ext cx="2857500" cy="64770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132F44"/>
          </a:solidFill>
          <a:ln xmlns:a="http://schemas.openxmlformats.org/drawingml/2006/main" w="9525">
            <a:solidFill>
              <a:srgbClr val="294C63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74956E7-36E4-4ED0-B31E-A3AF6FA3C5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619500"/>
            <a:ext cx="495300" cy="495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4B942"/>
          </a:solidFill>
          <a:ln xmlns:a="http://schemas.openxmlformats.org/drawingml/2006/main" w="0">
            <a:solidFill>
              <a:srgbClr val="F4B942"/>
            </a:solidFill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F3D5525-07DB-4971-86A8-CDACE4502D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619500"/>
            <a:ext cx="4953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071421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071421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9ECD694-DCEA-4A6A-AB25-AB4E38867B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3638550"/>
            <a:ext cx="2000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8FAFC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F8FAFC"/>
                </a:solidFill>
                <a:latin typeface="Arial"/>
                <a:ea typeface="Arial"/>
                <a:cs typeface="Arial"/>
              </a:rPr>
              <a:t>G Vivek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E489F8E-E7AB-4E54-ABCE-9341C8980E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52850" y="3543300"/>
            <a:ext cx="2857500" cy="64770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132F44"/>
          </a:solidFill>
          <a:ln xmlns:a="http://schemas.openxmlformats.org/drawingml/2006/main" w="9525">
            <a:solidFill>
              <a:srgbClr val="294C63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FD42266-E5F7-4AC7-943D-8174162401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8100" y="3619500"/>
            <a:ext cx="495300" cy="495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DD4BF"/>
          </a:solidFill>
          <a:ln xmlns:a="http://schemas.openxmlformats.org/drawingml/2006/main" w="0">
            <a:solidFill>
              <a:srgbClr val="2DD4BF"/>
            </a:solidFill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2A04BB9-E9A3-4D3D-AC19-25ABAABD4C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8100" y="3619500"/>
            <a:ext cx="4953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071421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071421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A5F13E2-8589-428F-97E3-1301BDEAD2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3638550"/>
            <a:ext cx="2000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8FAFC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F8FAFC"/>
                </a:solidFill>
                <a:latin typeface="Arial"/>
                <a:ea typeface="Arial"/>
                <a:cs typeface="Arial"/>
              </a:rPr>
              <a:t>Ankit Kumar Yadav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4689B4B-2E17-4E64-93B4-BF5A8B4C2B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800100"/>
            <a:ext cx="4019550" cy="4591050"/>
          </a:xfrm>
          <a:prstGeom xmlns:a="http://schemas.openxmlformats.org/drawingml/2006/main" prst="roundRect">
            <a:avLst>
              <a:gd name="adj" fmla="val 6635"/>
            </a:avLst>
          </a:prstGeom>
          <a:solidFill xmlns:a="http://schemas.openxmlformats.org/drawingml/2006/main">
            <a:srgbClr val="132F44"/>
          </a:solidFill>
          <a:ln xmlns:a="http://schemas.openxmlformats.org/drawingml/2006/main" w="9525">
            <a:solidFill>
              <a:srgbClr val="294C63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A64E4C8-88B2-4375-A79A-B8E97D1419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58100" y="1162050"/>
            <a:ext cx="33718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F4B942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F4B942"/>
                </a:solidFill>
                <a:latin typeface="Arial"/>
                <a:ea typeface="Arial"/>
                <a:cs typeface="Arial"/>
              </a:rPr>
              <a:t>EXPLORE THE PROJECT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4328B78-6927-4575-8BEE-340CBBA4B8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58100" y="1790700"/>
            <a:ext cx="304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8FAFC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F8FAFC"/>
                </a:solidFill>
                <a:latin typeface="Arial"/>
                <a:ea typeface="Arial"/>
                <a:cs typeface="Arial"/>
              </a:rPr>
              <a:t>GitHub repository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6F2EEF7F-9177-4438-8E9C-3CBE0FB2CA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58100" y="2171700"/>
            <a:ext cx="31813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1A8FF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61A8FF"/>
                </a:solidFill>
                <a:latin typeface="Arial"/>
                <a:ea typeface="Arial"/>
                <a:cs typeface="Arial"/>
                <a:hlinkClick xmlns:r="http://schemas.openxmlformats.org/officeDocument/2006/relationships" r:id="R1e7274b4a11e4677"/>
              </a:rPr>
              <a:t>github.com/ANKIEMUNKIE/voice_macro_Studio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0D20D6AA-4614-41AD-8310-E092192063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58100" y="3048000"/>
            <a:ext cx="304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8FAFC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F8FAFC"/>
                </a:solidFill>
                <a:latin typeface="Arial"/>
                <a:ea typeface="Arial"/>
                <a:cs typeface="Arial"/>
              </a:rPr>
              <a:t>Demo video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1F887EC2-1DDA-4F9E-8922-E51031B81A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58100" y="3429000"/>
            <a:ext cx="31813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1A8FF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61A8FF"/>
                </a:solidFill>
                <a:latin typeface="Arial"/>
                <a:ea typeface="Arial"/>
                <a:cs typeface="Arial"/>
                <a:hlinkClick xmlns:r="http://schemas.openxmlformats.org/officeDocument/2006/relationships" r:id="Ra2d4550c56a7444a"/>
              </a:rPr>
              <a:t>youtu.be/HedNCph6ZhA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8AEA5F71-D789-4630-B169-CF83A0DE93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58100" y="4362450"/>
            <a:ext cx="1466850" cy="3048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4B942"/>
          </a:solidFill>
          <a:ln xmlns:a="http://schemas.openxmlformats.org/drawingml/2006/main" w="9525">
            <a:solidFill>
              <a:srgbClr val="F4B942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B7856997-E94D-4202-B452-06440A9E19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53350" y="4381500"/>
            <a:ext cx="1276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071421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071421"/>
                </a:solidFill>
                <a:latin typeface="Arial"/>
                <a:ea typeface="Arial"/>
                <a:cs typeface="Arial"/>
              </a:rPr>
              <a:t>THANK YOU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F41C5565-9353-499E-9390-E01F7B84A9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58100" y="4800600"/>
            <a:ext cx="304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F8FAFC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F8FAFC"/>
                </a:solidFill>
                <a:latin typeface="Arial"/>
                <a:ea typeface="Arial"/>
                <a:cs typeface="Arial"/>
              </a:rPr>
              <a:t>Questions?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964DB179-8376-45E7-9D77-F9DC525E9D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010150"/>
            <a:ext cx="60198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AFC3D4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AFC3D4"/>
                </a:solidFill>
                <a:latin typeface="Arial"/>
                <a:ea typeface="Arial"/>
                <a:cs typeface="Arial"/>
              </a:rPr>
              <a:t>Repository and demo URLs are clickable in the README.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95D0B4B7-00DA-4312-8E1B-8C4BA5E898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19750"/>
            <a:ext cx="10744200" cy="45720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102B3F"/>
          </a:solidFill>
          <a:ln xmlns:a="http://schemas.openxmlformats.org/drawingml/2006/main" w="9525">
            <a:solidFill>
              <a:srgbClr val="294C63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4E03FABB-09C4-4949-8B64-F10BBFFB45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686425"/>
            <a:ext cx="103632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D978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FFD978"/>
                </a:solidFill>
                <a:latin typeface="Arial"/>
                <a:ea typeface="Arial"/>
                <a:cs typeface="Arial"/>
              </a:rPr>
              <a:t>Verified on Android 16 · Zomato · v0.4.0-quantity · local-first · zero paid API budget</a:t>
            </a:r>
          </a:p>
        </p:txBody>
      </p:sp>
    </p:spTree>
    <p:extLst>
      <p:ext uri="{BB962C8B-B14F-4D97-AF65-F5344CB8AC3E}">
        <p14:creationId xmlns:p14="http://schemas.microsoft.com/office/powerpoint/2010/main" val="1546193680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2026-09-30T18:10:47.8940000Z</dcterms:created>
  <dcterms:modified xsi:type="dcterms:W3CDTF">2026-09-30T18:10:47.8940000Z</dcterms:modified>
</coreProperties>
</file>